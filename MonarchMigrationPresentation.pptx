
<file path=[Content_Types].xml><?xml version="1.0" encoding="utf-8"?>
<Types xmlns="http://schemas.openxmlformats.org/package/2006/content-types">
  <Default Extension="fntdata" ContentType="application/x-fontdata"/>
  <Default Extension="gif" ContentType="image/gif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59" r:id="rId1"/>
  </p:sldMasterIdLst>
  <p:notesMasterIdLst>
    <p:notesMasterId r:id="rId12"/>
  </p:notesMasterIdLst>
  <p:sldIdLst>
    <p:sldId id="256" r:id="rId2"/>
    <p:sldId id="257" r:id="rId3"/>
    <p:sldId id="258" r:id="rId4"/>
    <p:sldId id="259" r:id="rId5"/>
    <p:sldId id="264" r:id="rId6"/>
    <p:sldId id="260" r:id="rId7"/>
    <p:sldId id="261" r:id="rId8"/>
    <p:sldId id="262" r:id="rId9"/>
    <p:sldId id="263" r:id="rId10"/>
    <p:sldId id="265" r:id="rId11"/>
  </p:sldIdLst>
  <p:sldSz cx="9144000" cy="5143500" type="screen16x9"/>
  <p:notesSz cx="6858000" cy="9144000"/>
  <p:embeddedFontLst>
    <p:embeddedFont>
      <p:font typeface="Lato" panose="020F0502020204030203" pitchFamily="34" charset="0"/>
      <p:regular r:id="rId13"/>
      <p:bold r:id="rId14"/>
      <p:italic r:id="rId15"/>
      <p:boldItalic r:id="rId16"/>
    </p:embeddedFont>
    <p:embeddedFont>
      <p:font typeface="Raleway" pitchFamily="2" charset="0"/>
      <p:regular r:id="rId17"/>
      <p:bold r:id="rId18"/>
      <p:italic r:id="rId19"/>
      <p:boldItalic r:id="rId20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162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38" d="100"/>
          <a:sy n="138" d="100"/>
        </p:scale>
        <p:origin x="834" y="120"/>
      </p:cViewPr>
      <p:guideLst>
        <p:guide orient="horz" pos="162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font" Target="fonts/font1.fntdata"/><Relationship Id="rId18" Type="http://schemas.openxmlformats.org/officeDocument/2006/relationships/font" Target="fonts/font6.fntdata"/><Relationship Id="rId3" Type="http://schemas.openxmlformats.org/officeDocument/2006/relationships/slide" Target="slides/slide2.xml"/><Relationship Id="rId21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17" Type="http://schemas.openxmlformats.org/officeDocument/2006/relationships/font" Target="fonts/font5.fntdata"/><Relationship Id="rId2" Type="http://schemas.openxmlformats.org/officeDocument/2006/relationships/slide" Target="slides/slide1.xml"/><Relationship Id="rId16" Type="http://schemas.openxmlformats.org/officeDocument/2006/relationships/font" Target="fonts/font4.fntdata"/><Relationship Id="rId20" Type="http://schemas.openxmlformats.org/officeDocument/2006/relationships/font" Target="fonts/font8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font" Target="fonts/font3.fntdata"/><Relationship Id="rId23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font" Target="fonts/font7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font" Target="fonts/font2.fntdata"/><Relationship Id="rId22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0" name="Google Shape;70;p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g11078dd6f49_0_6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6" name="Google Shape;76;g11078dd6f49_0_6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" name="Google Shape;83;g11078dd6f49_0_24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4" name="Google Shape;84;g11078dd6f49_0_24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g11078dd6f49_0_25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9" name="Google Shape;89;g11078dd6f49_0_25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6">
          <a:extLst>
            <a:ext uri="{FF2B5EF4-FFF2-40B4-BE49-F238E27FC236}">
              <a16:creationId xmlns:a16="http://schemas.microsoft.com/office/drawing/2014/main" id="{E733B446-1CC4-F1FC-73B5-3C57BFF19F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g11078dd6f49_0_281:notes">
            <a:extLst>
              <a:ext uri="{FF2B5EF4-FFF2-40B4-BE49-F238E27FC236}">
                <a16:creationId xmlns:a16="http://schemas.microsoft.com/office/drawing/2014/main" id="{0A8F206A-C02F-5E26-DEA2-C40697CF1FC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8" name="Google Shape;118;g11078dd6f49_0_281:notes">
            <a:extLst>
              <a:ext uri="{FF2B5EF4-FFF2-40B4-BE49-F238E27FC236}">
                <a16:creationId xmlns:a16="http://schemas.microsoft.com/office/drawing/2014/main" id="{871E1738-D089-013B-CA1F-D0644E595A5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141812942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g11078dd6f49_0_26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7" name="Google Shape;97;g11078dd6f49_0_26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g11078dd6f49_0_27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4" name="Google Shape;104;g11078dd6f49_0_27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g11078dd6f49_0_28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1" name="Google Shape;111;g11078dd6f49_0_28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g11078dd6f49_0_28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8" name="Google Shape;118;g11078dd6f49_0_28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6">
          <a:extLst>
            <a:ext uri="{FF2B5EF4-FFF2-40B4-BE49-F238E27FC236}">
              <a16:creationId xmlns:a16="http://schemas.microsoft.com/office/drawing/2014/main" id="{011825A6-F194-EEB7-4B01-6A9EA78A08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g11078dd6f49_0_281:notes">
            <a:extLst>
              <a:ext uri="{FF2B5EF4-FFF2-40B4-BE49-F238E27FC236}">
                <a16:creationId xmlns:a16="http://schemas.microsoft.com/office/drawing/2014/main" id="{42EEF7B1-3114-9DEE-5D52-50039A3E153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8" name="Google Shape;118;g11078dd6f49_0_281:notes">
            <a:extLst>
              <a:ext uri="{FF2B5EF4-FFF2-40B4-BE49-F238E27FC236}">
                <a16:creationId xmlns:a16="http://schemas.microsoft.com/office/drawing/2014/main" id="{A3EA7525-25D8-70DA-D354-A9A14666BE1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07870808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bg>
      <p:bgPr>
        <a:solidFill>
          <a:schemeClr val="dk1"/>
        </a:soli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0" name="Google Shape;10;p2"/>
          <p:cNvCxnSpPr/>
          <p:nvPr/>
        </p:nvCxnSpPr>
        <p:spPr>
          <a:xfrm>
            <a:off x="2477724" y="415650"/>
            <a:ext cx="6244200" cy="0"/>
          </a:xfrm>
          <a:prstGeom prst="straightConnector1">
            <a:avLst/>
          </a:prstGeom>
          <a:noFill/>
          <a:ln w="3810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</p:cxnSp>
      <p:cxnSp>
        <p:nvCxnSpPr>
          <p:cNvPr id="11" name="Google Shape;11;p2"/>
          <p:cNvCxnSpPr/>
          <p:nvPr/>
        </p:nvCxnSpPr>
        <p:spPr>
          <a:xfrm>
            <a:off x="2477724" y="4740000"/>
            <a:ext cx="6244200" cy="0"/>
          </a:xfrm>
          <a:prstGeom prst="straightConnector1">
            <a:avLst/>
          </a:prstGeom>
          <a:noFill/>
          <a:ln w="1905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</p:cxnSp>
      <p:cxnSp>
        <p:nvCxnSpPr>
          <p:cNvPr id="12" name="Google Shape;12;p2"/>
          <p:cNvCxnSpPr/>
          <p:nvPr/>
        </p:nvCxnSpPr>
        <p:spPr>
          <a:xfrm>
            <a:off x="425198" y="415650"/>
            <a:ext cx="183300" cy="0"/>
          </a:xfrm>
          <a:prstGeom prst="straightConnector1">
            <a:avLst/>
          </a:prstGeom>
          <a:noFill/>
          <a:ln w="1905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13" name="Google Shape;13;p2"/>
          <p:cNvSpPr txBox="1">
            <a:spLocks noGrp="1"/>
          </p:cNvSpPr>
          <p:nvPr>
            <p:ph type="ctrTitle"/>
          </p:nvPr>
        </p:nvSpPr>
        <p:spPr>
          <a:xfrm>
            <a:off x="2371725" y="630225"/>
            <a:ext cx="6331500" cy="1542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14" name="Google Shape;14;p2"/>
          <p:cNvSpPr txBox="1">
            <a:spLocks noGrp="1"/>
          </p:cNvSpPr>
          <p:nvPr>
            <p:ph type="subTitle" idx="1"/>
          </p:nvPr>
        </p:nvSpPr>
        <p:spPr>
          <a:xfrm>
            <a:off x="2390267" y="3238450"/>
            <a:ext cx="6331500" cy="1241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>
                <a:solidFill>
                  <a:schemeClr val="lt1"/>
                </a:solidFill>
              </a:defRPr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>
                <a:solidFill>
                  <a:schemeClr val="lt1"/>
                </a:solidFill>
              </a:defRPr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>
                <a:solidFill>
                  <a:schemeClr val="lt1"/>
                </a:solidFill>
              </a:defRPr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>
                <a:solidFill>
                  <a:schemeClr val="lt1"/>
                </a:solidFill>
              </a:defRPr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>
                <a:solidFill>
                  <a:schemeClr val="lt1"/>
                </a:solidFill>
              </a:defRPr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>
                <a:solidFill>
                  <a:schemeClr val="lt1"/>
                </a:solidFill>
              </a:defRPr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>
                <a:solidFill>
                  <a:schemeClr val="lt1"/>
                </a:solidFill>
              </a:defRPr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>
                <a:solidFill>
                  <a:schemeClr val="lt1"/>
                </a:solidFill>
              </a:defRPr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15" name="Google Shape;15;p2"/>
          <p:cNvSpPr txBox="1">
            <a:spLocks noGrp="1"/>
          </p:cNvSpPr>
          <p:nvPr>
            <p:ph type="sldNum" idx="12"/>
          </p:nvPr>
        </p:nvSpPr>
        <p:spPr>
          <a:xfrm>
            <a:off x="8497999" y="4688759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>
                <a:solidFill>
                  <a:schemeClr val="lt1"/>
                </a:solidFill>
              </a:defRPr>
            </a:lvl1pPr>
            <a:lvl2pPr lvl="1">
              <a:buNone/>
              <a:defRPr>
                <a:solidFill>
                  <a:schemeClr val="lt1"/>
                </a:solidFill>
              </a:defRPr>
            </a:lvl2pPr>
            <a:lvl3pPr lvl="2">
              <a:buNone/>
              <a:defRPr>
                <a:solidFill>
                  <a:schemeClr val="lt1"/>
                </a:solidFill>
              </a:defRPr>
            </a:lvl3pPr>
            <a:lvl4pPr lvl="3">
              <a:buNone/>
              <a:defRPr>
                <a:solidFill>
                  <a:schemeClr val="lt1"/>
                </a:solidFill>
              </a:defRPr>
            </a:lvl4pPr>
            <a:lvl5pPr lvl="4">
              <a:buNone/>
              <a:defRPr>
                <a:solidFill>
                  <a:schemeClr val="lt1"/>
                </a:solidFill>
              </a:defRPr>
            </a:lvl5pPr>
            <a:lvl6pPr lvl="5">
              <a:buNone/>
              <a:defRPr>
                <a:solidFill>
                  <a:schemeClr val="lt1"/>
                </a:solidFill>
              </a:defRPr>
            </a:lvl6pPr>
            <a:lvl7pPr lvl="6">
              <a:buNone/>
              <a:defRPr>
                <a:solidFill>
                  <a:schemeClr val="lt1"/>
                </a:solidFill>
              </a:defRPr>
            </a:lvl7pPr>
            <a:lvl8pPr lvl="7">
              <a:buNone/>
              <a:defRPr>
                <a:solidFill>
                  <a:schemeClr val="lt1"/>
                </a:solidFill>
              </a:defRPr>
            </a:lvl8pPr>
            <a:lvl9pPr lvl="8">
              <a:buNone/>
              <a:defRPr>
                <a:solidFill>
                  <a:schemeClr val="lt1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bg>
      <p:bgPr>
        <a:solidFill>
          <a:schemeClr val="dk1"/>
        </a:solidFill>
        <a:effectLst/>
      </p:bgPr>
    </p:bg>
    <p:spTree>
      <p:nvGrpSpPr>
        <p:cNvPr id="1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7" name="Google Shape;17;p3"/>
          <p:cNvCxnSpPr/>
          <p:nvPr/>
        </p:nvCxnSpPr>
        <p:spPr>
          <a:xfrm>
            <a:off x="425200" y="415650"/>
            <a:ext cx="8296800" cy="0"/>
          </a:xfrm>
          <a:prstGeom prst="straightConnector1">
            <a:avLst/>
          </a:prstGeom>
          <a:noFill/>
          <a:ln w="3810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</p:cxnSp>
      <p:cxnSp>
        <p:nvCxnSpPr>
          <p:cNvPr id="18" name="Google Shape;18;p3"/>
          <p:cNvCxnSpPr/>
          <p:nvPr/>
        </p:nvCxnSpPr>
        <p:spPr>
          <a:xfrm>
            <a:off x="425200" y="4740000"/>
            <a:ext cx="8296800" cy="0"/>
          </a:xfrm>
          <a:prstGeom prst="straightConnector1">
            <a:avLst/>
          </a:prstGeom>
          <a:noFill/>
          <a:ln w="1905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19" name="Google Shape;19;p3"/>
          <p:cNvSpPr txBox="1">
            <a:spLocks noGrp="1"/>
          </p:cNvSpPr>
          <p:nvPr>
            <p:ph type="title"/>
          </p:nvPr>
        </p:nvSpPr>
        <p:spPr>
          <a:xfrm>
            <a:off x="406425" y="1806825"/>
            <a:ext cx="8296800" cy="1542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20" name="Google Shape;20;p3"/>
          <p:cNvSpPr txBox="1">
            <a:spLocks noGrp="1"/>
          </p:cNvSpPr>
          <p:nvPr>
            <p:ph type="sldNum" idx="12"/>
          </p:nvPr>
        </p:nvSpPr>
        <p:spPr>
          <a:xfrm>
            <a:off x="8497999" y="4688759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>
                <a:solidFill>
                  <a:schemeClr val="lt1"/>
                </a:solidFill>
              </a:defRPr>
            </a:lvl1pPr>
            <a:lvl2pPr lvl="1">
              <a:buNone/>
              <a:defRPr>
                <a:solidFill>
                  <a:schemeClr val="lt1"/>
                </a:solidFill>
              </a:defRPr>
            </a:lvl2pPr>
            <a:lvl3pPr lvl="2">
              <a:buNone/>
              <a:defRPr>
                <a:solidFill>
                  <a:schemeClr val="lt1"/>
                </a:solidFill>
              </a:defRPr>
            </a:lvl3pPr>
            <a:lvl4pPr lvl="3">
              <a:buNone/>
              <a:defRPr>
                <a:solidFill>
                  <a:schemeClr val="lt1"/>
                </a:solidFill>
              </a:defRPr>
            </a:lvl4pPr>
            <a:lvl5pPr lvl="4">
              <a:buNone/>
              <a:defRPr>
                <a:solidFill>
                  <a:schemeClr val="lt1"/>
                </a:solidFill>
              </a:defRPr>
            </a:lvl5pPr>
            <a:lvl6pPr lvl="5">
              <a:buNone/>
              <a:defRPr>
                <a:solidFill>
                  <a:schemeClr val="lt1"/>
                </a:solidFill>
              </a:defRPr>
            </a:lvl6pPr>
            <a:lvl7pPr lvl="6">
              <a:buNone/>
              <a:defRPr>
                <a:solidFill>
                  <a:schemeClr val="lt1"/>
                </a:solidFill>
              </a:defRPr>
            </a:lvl7pPr>
            <a:lvl8pPr lvl="7">
              <a:buNone/>
              <a:defRPr>
                <a:solidFill>
                  <a:schemeClr val="lt1"/>
                </a:solidFill>
              </a:defRPr>
            </a:lvl8pPr>
            <a:lvl9pPr lvl="8">
              <a:buNone/>
              <a:defRPr>
                <a:solidFill>
                  <a:schemeClr val="lt1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2" name="Google Shape;22;p4"/>
          <p:cNvCxnSpPr/>
          <p:nvPr/>
        </p:nvCxnSpPr>
        <p:spPr>
          <a:xfrm>
            <a:off x="2477724" y="415650"/>
            <a:ext cx="6244200" cy="0"/>
          </a:xfrm>
          <a:prstGeom prst="straightConnector1">
            <a:avLst/>
          </a:prstGeom>
          <a:noFill/>
          <a:ln w="38100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</p:cxnSp>
      <p:cxnSp>
        <p:nvCxnSpPr>
          <p:cNvPr id="23" name="Google Shape;23;p4"/>
          <p:cNvCxnSpPr/>
          <p:nvPr/>
        </p:nvCxnSpPr>
        <p:spPr>
          <a:xfrm>
            <a:off x="2477724" y="4740000"/>
            <a:ext cx="6244200" cy="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</p:cxnSp>
      <p:cxnSp>
        <p:nvCxnSpPr>
          <p:cNvPr id="24" name="Google Shape;24;p4"/>
          <p:cNvCxnSpPr/>
          <p:nvPr/>
        </p:nvCxnSpPr>
        <p:spPr>
          <a:xfrm>
            <a:off x="425198" y="415650"/>
            <a:ext cx="183300" cy="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25" name="Google Shape;25;p4"/>
          <p:cNvSpPr txBox="1">
            <a:spLocks noGrp="1"/>
          </p:cNvSpPr>
          <p:nvPr>
            <p:ph type="title"/>
          </p:nvPr>
        </p:nvSpPr>
        <p:spPr>
          <a:xfrm>
            <a:off x="2400250" y="575950"/>
            <a:ext cx="6321600" cy="635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26" name="Google Shape;26;p4"/>
          <p:cNvSpPr txBox="1">
            <a:spLocks noGrp="1"/>
          </p:cNvSpPr>
          <p:nvPr>
            <p:ph type="body" idx="1"/>
          </p:nvPr>
        </p:nvSpPr>
        <p:spPr>
          <a:xfrm>
            <a:off x="2410112" y="1595776"/>
            <a:ext cx="6321600" cy="3002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27" name="Google Shape;27;p4"/>
          <p:cNvSpPr txBox="1">
            <a:spLocks noGrp="1"/>
          </p:cNvSpPr>
          <p:nvPr>
            <p:ph type="sldNum" idx="12"/>
          </p:nvPr>
        </p:nvSpPr>
        <p:spPr>
          <a:xfrm>
            <a:off x="8497999" y="4688759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9" name="Google Shape;29;p5"/>
          <p:cNvCxnSpPr/>
          <p:nvPr/>
        </p:nvCxnSpPr>
        <p:spPr>
          <a:xfrm>
            <a:off x="2477724" y="415650"/>
            <a:ext cx="6244200" cy="0"/>
          </a:xfrm>
          <a:prstGeom prst="straightConnector1">
            <a:avLst/>
          </a:prstGeom>
          <a:noFill/>
          <a:ln w="38100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</p:cxnSp>
      <p:cxnSp>
        <p:nvCxnSpPr>
          <p:cNvPr id="30" name="Google Shape;30;p5"/>
          <p:cNvCxnSpPr/>
          <p:nvPr/>
        </p:nvCxnSpPr>
        <p:spPr>
          <a:xfrm>
            <a:off x="2477724" y="4740000"/>
            <a:ext cx="6244200" cy="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</p:cxnSp>
      <p:cxnSp>
        <p:nvCxnSpPr>
          <p:cNvPr id="31" name="Google Shape;31;p5"/>
          <p:cNvCxnSpPr/>
          <p:nvPr/>
        </p:nvCxnSpPr>
        <p:spPr>
          <a:xfrm>
            <a:off x="425198" y="415650"/>
            <a:ext cx="183300" cy="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32" name="Google Shape;32;p5"/>
          <p:cNvSpPr txBox="1">
            <a:spLocks noGrp="1"/>
          </p:cNvSpPr>
          <p:nvPr>
            <p:ph type="title"/>
          </p:nvPr>
        </p:nvSpPr>
        <p:spPr>
          <a:xfrm>
            <a:off x="2400250" y="575950"/>
            <a:ext cx="6321600" cy="635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33" name="Google Shape;33;p5"/>
          <p:cNvSpPr txBox="1">
            <a:spLocks noGrp="1"/>
          </p:cNvSpPr>
          <p:nvPr>
            <p:ph type="body" idx="1"/>
          </p:nvPr>
        </p:nvSpPr>
        <p:spPr>
          <a:xfrm>
            <a:off x="2400303" y="1602675"/>
            <a:ext cx="3071400" cy="3002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34" name="Google Shape;34;p5"/>
          <p:cNvSpPr txBox="1">
            <a:spLocks noGrp="1"/>
          </p:cNvSpPr>
          <p:nvPr>
            <p:ph type="body" idx="2"/>
          </p:nvPr>
        </p:nvSpPr>
        <p:spPr>
          <a:xfrm>
            <a:off x="5650572" y="1602675"/>
            <a:ext cx="3071400" cy="3002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35" name="Google Shape;35;p5"/>
          <p:cNvSpPr txBox="1">
            <a:spLocks noGrp="1"/>
          </p:cNvSpPr>
          <p:nvPr>
            <p:ph type="sldNum" idx="12"/>
          </p:nvPr>
        </p:nvSpPr>
        <p:spPr>
          <a:xfrm>
            <a:off x="8497999" y="4688759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Google Shape;37;p6"/>
          <p:cNvSpPr txBox="1">
            <a:spLocks noGrp="1"/>
          </p:cNvSpPr>
          <p:nvPr>
            <p:ph type="title"/>
          </p:nvPr>
        </p:nvSpPr>
        <p:spPr>
          <a:xfrm>
            <a:off x="303300" y="411575"/>
            <a:ext cx="8520600" cy="639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38" name="Google Shape;38;p6"/>
          <p:cNvSpPr txBox="1">
            <a:spLocks noGrp="1"/>
          </p:cNvSpPr>
          <p:nvPr>
            <p:ph type="sldNum" idx="12"/>
          </p:nvPr>
        </p:nvSpPr>
        <p:spPr>
          <a:xfrm>
            <a:off x="8497999" y="4688759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0" name="Google Shape;40;p7"/>
          <p:cNvCxnSpPr/>
          <p:nvPr/>
        </p:nvCxnSpPr>
        <p:spPr>
          <a:xfrm>
            <a:off x="425198" y="415650"/>
            <a:ext cx="183300" cy="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41" name="Google Shape;41;p7"/>
          <p:cNvSpPr txBox="1">
            <a:spLocks noGrp="1"/>
          </p:cNvSpPr>
          <p:nvPr>
            <p:ph type="title"/>
          </p:nvPr>
        </p:nvSpPr>
        <p:spPr>
          <a:xfrm>
            <a:off x="319500" y="936600"/>
            <a:ext cx="2808000" cy="755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42" name="Google Shape;42;p7"/>
          <p:cNvSpPr txBox="1">
            <a:spLocks noGrp="1"/>
          </p:cNvSpPr>
          <p:nvPr>
            <p:ph type="body" idx="1"/>
          </p:nvPr>
        </p:nvSpPr>
        <p:spPr>
          <a:xfrm>
            <a:off x="319500" y="1846804"/>
            <a:ext cx="2808000" cy="2806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43" name="Google Shape;43;p7"/>
          <p:cNvSpPr txBox="1">
            <a:spLocks noGrp="1"/>
          </p:cNvSpPr>
          <p:nvPr>
            <p:ph type="sldNum" idx="12"/>
          </p:nvPr>
        </p:nvSpPr>
        <p:spPr>
          <a:xfrm>
            <a:off x="8497999" y="4688759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bg>
      <p:bgPr>
        <a:solidFill>
          <a:schemeClr val="lt2"/>
        </a:solidFill>
        <a:effectLst/>
      </p:bgPr>
    </p:bg>
    <p:spTree>
      <p:nvGrpSpPr>
        <p:cNvPr id="1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5" name="Google Shape;45;p8"/>
          <p:cNvCxnSpPr/>
          <p:nvPr/>
        </p:nvCxnSpPr>
        <p:spPr>
          <a:xfrm>
            <a:off x="425198" y="415650"/>
            <a:ext cx="183300" cy="0"/>
          </a:xfrm>
          <a:prstGeom prst="straightConnector1">
            <a:avLst/>
          </a:prstGeom>
          <a:noFill/>
          <a:ln w="1905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46" name="Google Shape;46;p8"/>
          <p:cNvSpPr txBox="1">
            <a:spLocks noGrp="1"/>
          </p:cNvSpPr>
          <p:nvPr>
            <p:ph type="title"/>
          </p:nvPr>
        </p:nvSpPr>
        <p:spPr>
          <a:xfrm>
            <a:off x="283103" y="712141"/>
            <a:ext cx="6244200" cy="38355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47" name="Google Shape;47;p8"/>
          <p:cNvSpPr txBox="1">
            <a:spLocks noGrp="1"/>
          </p:cNvSpPr>
          <p:nvPr>
            <p:ph type="sldNum" idx="12"/>
          </p:nvPr>
        </p:nvSpPr>
        <p:spPr>
          <a:xfrm>
            <a:off x="8497999" y="4688759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>
                <a:solidFill>
                  <a:schemeClr val="lt1"/>
                </a:solidFill>
              </a:defRPr>
            </a:lvl1pPr>
            <a:lvl2pPr lvl="1">
              <a:buNone/>
              <a:defRPr>
                <a:solidFill>
                  <a:schemeClr val="lt1"/>
                </a:solidFill>
              </a:defRPr>
            </a:lvl2pPr>
            <a:lvl3pPr lvl="2">
              <a:buNone/>
              <a:defRPr>
                <a:solidFill>
                  <a:schemeClr val="lt1"/>
                </a:solidFill>
              </a:defRPr>
            </a:lvl3pPr>
            <a:lvl4pPr lvl="3">
              <a:buNone/>
              <a:defRPr>
                <a:solidFill>
                  <a:schemeClr val="lt1"/>
                </a:solidFill>
              </a:defRPr>
            </a:lvl4pPr>
            <a:lvl5pPr lvl="4">
              <a:buNone/>
              <a:defRPr>
                <a:solidFill>
                  <a:schemeClr val="lt1"/>
                </a:solidFill>
              </a:defRPr>
            </a:lvl5pPr>
            <a:lvl6pPr lvl="5">
              <a:buNone/>
              <a:defRPr>
                <a:solidFill>
                  <a:schemeClr val="lt1"/>
                </a:solidFill>
              </a:defRPr>
            </a:lvl6pPr>
            <a:lvl7pPr lvl="6">
              <a:buNone/>
              <a:defRPr>
                <a:solidFill>
                  <a:schemeClr val="lt1"/>
                </a:solidFill>
              </a:defRPr>
            </a:lvl7pPr>
            <a:lvl8pPr lvl="7">
              <a:buNone/>
              <a:defRPr>
                <a:solidFill>
                  <a:schemeClr val="lt1"/>
                </a:solidFill>
              </a:defRPr>
            </a:lvl8pPr>
            <a:lvl9pPr lvl="8">
              <a:buNone/>
              <a:defRPr>
                <a:solidFill>
                  <a:schemeClr val="lt1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9"/>
          <p:cNvSpPr/>
          <p:nvPr/>
        </p:nvSpPr>
        <p:spPr>
          <a:xfrm>
            <a:off x="4572000" y="125"/>
            <a:ext cx="4572000" cy="51435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cxnSp>
        <p:nvCxnSpPr>
          <p:cNvPr id="50" name="Google Shape;50;p9"/>
          <p:cNvCxnSpPr/>
          <p:nvPr/>
        </p:nvCxnSpPr>
        <p:spPr>
          <a:xfrm>
            <a:off x="5029675" y="4495500"/>
            <a:ext cx="468300" cy="0"/>
          </a:xfrm>
          <a:prstGeom prst="straightConnector1">
            <a:avLst/>
          </a:prstGeom>
          <a:noFill/>
          <a:ln w="1905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51" name="Google Shape;51;p9"/>
          <p:cNvSpPr txBox="1">
            <a:spLocks noGrp="1"/>
          </p:cNvSpPr>
          <p:nvPr>
            <p:ph type="title"/>
          </p:nvPr>
        </p:nvSpPr>
        <p:spPr>
          <a:xfrm>
            <a:off x="265500" y="1397350"/>
            <a:ext cx="4045200" cy="1318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None/>
              <a:defRPr sz="3600">
                <a:solidFill>
                  <a:schemeClr val="dk1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None/>
              <a:defRPr sz="3600">
                <a:solidFill>
                  <a:schemeClr val="dk1"/>
                </a:solidFill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None/>
              <a:defRPr sz="3600">
                <a:solidFill>
                  <a:schemeClr val="dk1"/>
                </a:solidFill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None/>
              <a:defRPr sz="3600">
                <a:solidFill>
                  <a:schemeClr val="dk1"/>
                </a:solidFill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None/>
              <a:defRPr sz="3600">
                <a:solidFill>
                  <a:schemeClr val="dk1"/>
                </a:solidFill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None/>
              <a:defRPr sz="3600">
                <a:solidFill>
                  <a:schemeClr val="dk1"/>
                </a:solidFill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None/>
              <a:defRPr sz="3600">
                <a:solidFill>
                  <a:schemeClr val="dk1"/>
                </a:solidFill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None/>
              <a:defRPr sz="3600">
                <a:solidFill>
                  <a:schemeClr val="dk1"/>
                </a:solidFill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None/>
              <a:defRPr sz="36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52" name="Google Shape;52;p9"/>
          <p:cNvSpPr txBox="1">
            <a:spLocks noGrp="1"/>
          </p:cNvSpPr>
          <p:nvPr>
            <p:ph type="subTitle" idx="1"/>
          </p:nvPr>
        </p:nvSpPr>
        <p:spPr>
          <a:xfrm>
            <a:off x="265500" y="2735371"/>
            <a:ext cx="4045200" cy="1345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53" name="Google Shape;53;p9"/>
          <p:cNvSpPr txBox="1">
            <a:spLocks noGrp="1"/>
          </p:cNvSpPr>
          <p:nvPr>
            <p:ph type="body" idx="2"/>
          </p:nvPr>
        </p:nvSpPr>
        <p:spPr>
          <a:xfrm>
            <a:off x="4939500" y="724200"/>
            <a:ext cx="3837000" cy="369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Char char="●"/>
              <a:defRPr>
                <a:solidFill>
                  <a:schemeClr val="lt1"/>
                </a:solidFill>
              </a:defRPr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54" name="Google Shape;54;p9"/>
          <p:cNvSpPr txBox="1">
            <a:spLocks noGrp="1"/>
          </p:cNvSpPr>
          <p:nvPr>
            <p:ph type="sldNum" idx="12"/>
          </p:nvPr>
        </p:nvSpPr>
        <p:spPr>
          <a:xfrm>
            <a:off x="8497999" y="4688759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>
                <a:solidFill>
                  <a:schemeClr val="lt1"/>
                </a:solidFill>
              </a:defRPr>
            </a:lvl1pPr>
            <a:lvl2pPr lvl="1">
              <a:buNone/>
              <a:defRPr>
                <a:solidFill>
                  <a:schemeClr val="lt1"/>
                </a:solidFill>
              </a:defRPr>
            </a:lvl2pPr>
            <a:lvl3pPr lvl="2">
              <a:buNone/>
              <a:defRPr>
                <a:solidFill>
                  <a:schemeClr val="lt1"/>
                </a:solidFill>
              </a:defRPr>
            </a:lvl3pPr>
            <a:lvl4pPr lvl="3">
              <a:buNone/>
              <a:defRPr>
                <a:solidFill>
                  <a:schemeClr val="lt1"/>
                </a:solidFill>
              </a:defRPr>
            </a:lvl4pPr>
            <a:lvl5pPr lvl="4">
              <a:buNone/>
              <a:defRPr>
                <a:solidFill>
                  <a:schemeClr val="lt1"/>
                </a:solidFill>
              </a:defRPr>
            </a:lvl5pPr>
            <a:lvl6pPr lvl="5">
              <a:buNone/>
              <a:defRPr>
                <a:solidFill>
                  <a:schemeClr val="lt1"/>
                </a:solidFill>
              </a:defRPr>
            </a:lvl6pPr>
            <a:lvl7pPr lvl="6">
              <a:buNone/>
              <a:defRPr>
                <a:solidFill>
                  <a:schemeClr val="lt1"/>
                </a:solidFill>
              </a:defRPr>
            </a:lvl7pPr>
            <a:lvl8pPr lvl="7">
              <a:buNone/>
              <a:defRPr>
                <a:solidFill>
                  <a:schemeClr val="lt1"/>
                </a:solidFill>
              </a:defRPr>
            </a:lvl8pPr>
            <a:lvl9pPr lvl="8">
              <a:buNone/>
              <a:defRPr>
                <a:solidFill>
                  <a:schemeClr val="lt1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6" name="Google Shape;56;p10"/>
          <p:cNvCxnSpPr/>
          <p:nvPr/>
        </p:nvCxnSpPr>
        <p:spPr>
          <a:xfrm>
            <a:off x="425200" y="4740000"/>
            <a:ext cx="8296800" cy="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</p:cxnSp>
      <p:cxnSp>
        <p:nvCxnSpPr>
          <p:cNvPr id="57" name="Google Shape;57;p10"/>
          <p:cNvCxnSpPr/>
          <p:nvPr/>
        </p:nvCxnSpPr>
        <p:spPr>
          <a:xfrm>
            <a:off x="425198" y="415650"/>
            <a:ext cx="183300" cy="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58" name="Google Shape;58;p10"/>
          <p:cNvSpPr txBox="1">
            <a:spLocks noGrp="1"/>
          </p:cNvSpPr>
          <p:nvPr>
            <p:ph type="body" idx="1"/>
          </p:nvPr>
        </p:nvSpPr>
        <p:spPr>
          <a:xfrm>
            <a:off x="328017" y="4226025"/>
            <a:ext cx="83886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228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>
            <a:endParaRPr/>
          </a:p>
        </p:txBody>
      </p:sp>
      <p:sp>
        <p:nvSpPr>
          <p:cNvPr id="59" name="Google Shape;59;p10"/>
          <p:cNvSpPr txBox="1">
            <a:spLocks noGrp="1"/>
          </p:cNvSpPr>
          <p:nvPr>
            <p:ph type="sldNum" idx="12"/>
          </p:nvPr>
        </p:nvSpPr>
        <p:spPr>
          <a:xfrm>
            <a:off x="8497999" y="4688759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1" name="Google Shape;61;p11"/>
          <p:cNvCxnSpPr/>
          <p:nvPr/>
        </p:nvCxnSpPr>
        <p:spPr>
          <a:xfrm>
            <a:off x="425200" y="4740000"/>
            <a:ext cx="8296800" cy="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</p:cxnSp>
      <p:cxnSp>
        <p:nvCxnSpPr>
          <p:cNvPr id="62" name="Google Shape;62;p11"/>
          <p:cNvCxnSpPr/>
          <p:nvPr/>
        </p:nvCxnSpPr>
        <p:spPr>
          <a:xfrm>
            <a:off x="425200" y="415650"/>
            <a:ext cx="8296800" cy="0"/>
          </a:xfrm>
          <a:prstGeom prst="straightConnector1">
            <a:avLst/>
          </a:prstGeom>
          <a:noFill/>
          <a:ln w="38100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63" name="Google Shape;63;p11"/>
          <p:cNvSpPr txBox="1">
            <a:spLocks noGrp="1"/>
          </p:cNvSpPr>
          <p:nvPr>
            <p:ph type="title" hasCustomPrompt="1"/>
          </p:nvPr>
        </p:nvSpPr>
        <p:spPr>
          <a:xfrm>
            <a:off x="853950" y="1304850"/>
            <a:ext cx="7436100" cy="1538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00"/>
              <a:buFont typeface="Lato"/>
              <a:buNone/>
              <a:defRPr sz="9600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00"/>
              <a:buFont typeface="Lato"/>
              <a:buNone/>
              <a:defRPr sz="9600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00"/>
              <a:buFont typeface="Lato"/>
              <a:buNone/>
              <a:defRPr sz="9600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00"/>
              <a:buFont typeface="Lato"/>
              <a:buNone/>
              <a:defRPr sz="9600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00"/>
              <a:buFont typeface="Lato"/>
              <a:buNone/>
              <a:defRPr sz="9600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00"/>
              <a:buFont typeface="Lato"/>
              <a:buNone/>
              <a:defRPr sz="9600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00"/>
              <a:buFont typeface="Lato"/>
              <a:buNone/>
              <a:defRPr sz="9600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00"/>
              <a:buFont typeface="Lato"/>
              <a:buNone/>
              <a:defRPr sz="9600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00"/>
              <a:buFont typeface="Lato"/>
              <a:buNone/>
              <a:defRPr sz="9600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9pPr>
          </a:lstStyle>
          <a:p>
            <a:r>
              <a:t>xx%</a:t>
            </a:r>
          </a:p>
        </p:txBody>
      </p:sp>
      <p:sp>
        <p:nvSpPr>
          <p:cNvPr id="64" name="Google Shape;64;p11"/>
          <p:cNvSpPr txBox="1">
            <a:spLocks noGrp="1"/>
          </p:cNvSpPr>
          <p:nvPr>
            <p:ph type="body" idx="1"/>
          </p:nvPr>
        </p:nvSpPr>
        <p:spPr>
          <a:xfrm>
            <a:off x="853950" y="2919450"/>
            <a:ext cx="7436100" cy="1071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65" name="Google Shape;65;p11"/>
          <p:cNvSpPr txBox="1">
            <a:spLocks noGrp="1"/>
          </p:cNvSpPr>
          <p:nvPr>
            <p:ph type="sldNum" idx="12"/>
          </p:nvPr>
        </p:nvSpPr>
        <p:spPr>
          <a:xfrm>
            <a:off x="8497999" y="4688759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12"/>
          <p:cNvSpPr txBox="1">
            <a:spLocks noGrp="1"/>
          </p:cNvSpPr>
          <p:nvPr>
            <p:ph type="sldNum" idx="12"/>
          </p:nvPr>
        </p:nvSpPr>
        <p:spPr>
          <a:xfrm>
            <a:off x="8497999" y="4688759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wiss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2400250" y="575950"/>
            <a:ext cx="6321600" cy="63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000"/>
              <a:buFont typeface="Raleway"/>
              <a:buNone/>
              <a:defRPr sz="3000" b="1">
                <a:solidFill>
                  <a:schemeClr val="dk2"/>
                </a:solidFill>
                <a:latin typeface="Raleway"/>
                <a:ea typeface="Raleway"/>
                <a:cs typeface="Raleway"/>
                <a:sym typeface="Ralew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000"/>
              <a:buFont typeface="Raleway"/>
              <a:buNone/>
              <a:defRPr sz="3000" b="1">
                <a:solidFill>
                  <a:schemeClr val="dk2"/>
                </a:solidFill>
                <a:latin typeface="Raleway"/>
                <a:ea typeface="Raleway"/>
                <a:cs typeface="Raleway"/>
                <a:sym typeface="Raleway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000"/>
              <a:buFont typeface="Raleway"/>
              <a:buNone/>
              <a:defRPr sz="3000" b="1">
                <a:solidFill>
                  <a:schemeClr val="dk2"/>
                </a:solidFill>
                <a:latin typeface="Raleway"/>
                <a:ea typeface="Raleway"/>
                <a:cs typeface="Raleway"/>
                <a:sym typeface="Raleway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000"/>
              <a:buFont typeface="Raleway"/>
              <a:buNone/>
              <a:defRPr sz="3000" b="1">
                <a:solidFill>
                  <a:schemeClr val="dk2"/>
                </a:solidFill>
                <a:latin typeface="Raleway"/>
                <a:ea typeface="Raleway"/>
                <a:cs typeface="Raleway"/>
                <a:sym typeface="Raleway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000"/>
              <a:buFont typeface="Raleway"/>
              <a:buNone/>
              <a:defRPr sz="3000" b="1">
                <a:solidFill>
                  <a:schemeClr val="dk2"/>
                </a:solidFill>
                <a:latin typeface="Raleway"/>
                <a:ea typeface="Raleway"/>
                <a:cs typeface="Raleway"/>
                <a:sym typeface="Raleway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000"/>
              <a:buFont typeface="Raleway"/>
              <a:buNone/>
              <a:defRPr sz="3000" b="1">
                <a:solidFill>
                  <a:schemeClr val="dk2"/>
                </a:solidFill>
                <a:latin typeface="Raleway"/>
                <a:ea typeface="Raleway"/>
                <a:cs typeface="Raleway"/>
                <a:sym typeface="Raleway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000"/>
              <a:buFont typeface="Raleway"/>
              <a:buNone/>
              <a:defRPr sz="3000" b="1">
                <a:solidFill>
                  <a:schemeClr val="dk2"/>
                </a:solidFill>
                <a:latin typeface="Raleway"/>
                <a:ea typeface="Raleway"/>
                <a:cs typeface="Raleway"/>
                <a:sym typeface="Raleway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000"/>
              <a:buFont typeface="Raleway"/>
              <a:buNone/>
              <a:defRPr sz="3000" b="1">
                <a:solidFill>
                  <a:schemeClr val="dk2"/>
                </a:solidFill>
                <a:latin typeface="Raleway"/>
                <a:ea typeface="Raleway"/>
                <a:cs typeface="Raleway"/>
                <a:sym typeface="Raleway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000"/>
              <a:buFont typeface="Raleway"/>
              <a:buNone/>
              <a:defRPr sz="3000" b="1">
                <a:solidFill>
                  <a:schemeClr val="dk2"/>
                </a:solidFill>
                <a:latin typeface="Raleway"/>
                <a:ea typeface="Raleway"/>
                <a:cs typeface="Raleway"/>
                <a:sym typeface="Raleway"/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2410112" y="1595776"/>
            <a:ext cx="6321600" cy="3002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Lato"/>
              <a:buChar char="●"/>
              <a:defRPr sz="1800">
                <a:solidFill>
                  <a:schemeClr val="dk2"/>
                </a:solidFill>
                <a:latin typeface="Lato"/>
                <a:ea typeface="Lato"/>
                <a:cs typeface="Lato"/>
                <a:sym typeface="Lato"/>
              </a:defRPr>
            </a:lvl1pPr>
            <a:lvl2pPr marL="914400" lvl="1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Lato"/>
              <a:buChar char="○"/>
              <a:defRPr>
                <a:solidFill>
                  <a:schemeClr val="dk2"/>
                </a:solidFill>
                <a:latin typeface="Lato"/>
                <a:ea typeface="Lato"/>
                <a:cs typeface="Lato"/>
                <a:sym typeface="Lato"/>
              </a:defRPr>
            </a:lvl2pPr>
            <a:lvl3pPr marL="1371600" lvl="2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Lato"/>
              <a:buChar char="■"/>
              <a:defRPr>
                <a:solidFill>
                  <a:schemeClr val="dk2"/>
                </a:solidFill>
                <a:latin typeface="Lato"/>
                <a:ea typeface="Lato"/>
                <a:cs typeface="Lato"/>
                <a:sym typeface="Lato"/>
              </a:defRPr>
            </a:lvl3pPr>
            <a:lvl4pPr marL="1828800" lvl="3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Lato"/>
              <a:buChar char="●"/>
              <a:defRPr>
                <a:solidFill>
                  <a:schemeClr val="dk2"/>
                </a:solidFill>
                <a:latin typeface="Lato"/>
                <a:ea typeface="Lato"/>
                <a:cs typeface="Lato"/>
                <a:sym typeface="Lato"/>
              </a:defRPr>
            </a:lvl4pPr>
            <a:lvl5pPr marL="2286000" lvl="4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Lato"/>
              <a:buChar char="○"/>
              <a:defRPr>
                <a:solidFill>
                  <a:schemeClr val="dk2"/>
                </a:solidFill>
                <a:latin typeface="Lato"/>
                <a:ea typeface="Lato"/>
                <a:cs typeface="Lato"/>
                <a:sym typeface="Lato"/>
              </a:defRPr>
            </a:lvl5pPr>
            <a:lvl6pPr marL="2743200" lvl="5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Lato"/>
              <a:buChar char="■"/>
              <a:defRPr>
                <a:solidFill>
                  <a:schemeClr val="dk2"/>
                </a:solidFill>
                <a:latin typeface="Lato"/>
                <a:ea typeface="Lato"/>
                <a:cs typeface="Lato"/>
                <a:sym typeface="Lato"/>
              </a:defRPr>
            </a:lvl6pPr>
            <a:lvl7pPr marL="3200400" lvl="6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Lato"/>
              <a:buChar char="●"/>
              <a:defRPr>
                <a:solidFill>
                  <a:schemeClr val="dk2"/>
                </a:solidFill>
                <a:latin typeface="Lato"/>
                <a:ea typeface="Lato"/>
                <a:cs typeface="Lato"/>
                <a:sym typeface="Lato"/>
              </a:defRPr>
            </a:lvl7pPr>
            <a:lvl8pPr marL="3657600" lvl="7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Lato"/>
              <a:buChar char="○"/>
              <a:defRPr>
                <a:solidFill>
                  <a:schemeClr val="dk2"/>
                </a:solidFill>
                <a:latin typeface="Lato"/>
                <a:ea typeface="Lato"/>
                <a:cs typeface="Lato"/>
                <a:sym typeface="Lato"/>
              </a:defRPr>
            </a:lvl8pPr>
            <a:lvl9pPr marL="4114800" lvl="8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Lato"/>
              <a:buChar char="■"/>
              <a:defRPr>
                <a:solidFill>
                  <a:schemeClr val="dk2"/>
                </a:solidFill>
                <a:latin typeface="Lato"/>
                <a:ea typeface="Lato"/>
                <a:cs typeface="Lato"/>
                <a:sym typeface="Lato"/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497999" y="4688759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  <a:latin typeface="Lato"/>
                <a:ea typeface="Lato"/>
                <a:cs typeface="Lato"/>
                <a:sym typeface="Lato"/>
              </a:defRPr>
            </a:lvl1pPr>
            <a:lvl2pPr lvl="1" algn="r">
              <a:buNone/>
              <a:defRPr sz="1000">
                <a:solidFill>
                  <a:schemeClr val="dk2"/>
                </a:solidFill>
                <a:latin typeface="Lato"/>
                <a:ea typeface="Lato"/>
                <a:cs typeface="Lato"/>
                <a:sym typeface="Lato"/>
              </a:defRPr>
            </a:lvl2pPr>
            <a:lvl3pPr lvl="2" algn="r">
              <a:buNone/>
              <a:defRPr sz="1000">
                <a:solidFill>
                  <a:schemeClr val="dk2"/>
                </a:solidFill>
                <a:latin typeface="Lato"/>
                <a:ea typeface="Lato"/>
                <a:cs typeface="Lato"/>
                <a:sym typeface="Lato"/>
              </a:defRPr>
            </a:lvl3pPr>
            <a:lvl4pPr lvl="3" algn="r">
              <a:buNone/>
              <a:defRPr sz="1000">
                <a:solidFill>
                  <a:schemeClr val="dk2"/>
                </a:solidFill>
                <a:latin typeface="Lato"/>
                <a:ea typeface="Lato"/>
                <a:cs typeface="Lato"/>
                <a:sym typeface="Lato"/>
              </a:defRPr>
            </a:lvl4pPr>
            <a:lvl5pPr lvl="4" algn="r">
              <a:buNone/>
              <a:defRPr sz="1000">
                <a:solidFill>
                  <a:schemeClr val="dk2"/>
                </a:solidFill>
                <a:latin typeface="Lato"/>
                <a:ea typeface="Lato"/>
                <a:cs typeface="Lato"/>
                <a:sym typeface="Lato"/>
              </a:defRPr>
            </a:lvl5pPr>
            <a:lvl6pPr lvl="5" algn="r">
              <a:buNone/>
              <a:defRPr sz="1000">
                <a:solidFill>
                  <a:schemeClr val="dk2"/>
                </a:solidFill>
                <a:latin typeface="Lato"/>
                <a:ea typeface="Lato"/>
                <a:cs typeface="Lato"/>
                <a:sym typeface="Lato"/>
              </a:defRPr>
            </a:lvl6pPr>
            <a:lvl7pPr lvl="6" algn="r">
              <a:buNone/>
              <a:defRPr sz="1000">
                <a:solidFill>
                  <a:schemeClr val="dk2"/>
                </a:solidFill>
                <a:latin typeface="Lato"/>
                <a:ea typeface="Lato"/>
                <a:cs typeface="Lato"/>
                <a:sym typeface="Lato"/>
              </a:defRPr>
            </a:lvl7pPr>
            <a:lvl8pPr lvl="7" algn="r">
              <a:buNone/>
              <a:defRPr sz="1000">
                <a:solidFill>
                  <a:schemeClr val="dk2"/>
                </a:solidFill>
                <a:latin typeface="Lato"/>
                <a:ea typeface="Lato"/>
                <a:cs typeface="Lato"/>
                <a:sym typeface="Lato"/>
              </a:defRPr>
            </a:lvl8pPr>
            <a:lvl9pPr lvl="8" algn="r">
              <a:buNone/>
              <a:defRPr sz="1000">
                <a:solidFill>
                  <a:schemeClr val="dk2"/>
                </a:solidFill>
                <a:latin typeface="Lato"/>
                <a:ea typeface="Lato"/>
                <a:cs typeface="Lato"/>
                <a:sym typeface="Lat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hyperlink" Target="http://github.com/sjegoodman/monarch-migration" TargetMode="Externa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3.jp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6.jp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3.jp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hyperlink" Target="https://sjegoodman.github.io/monarch-migration/GifMap/GifMap2019.gif" TargetMode="External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8.gif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hyperlink" Target="https://sjegoodman.github.io/monarch-migration/Aug2020.html" TargetMode="External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9.png"/><Relationship Id="rId4" Type="http://schemas.openxmlformats.org/officeDocument/2006/relationships/hyperlink" Target="https://sjegoodman.github.io/monarch-migration/Sep2020.html" TargetMode="Externa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3.xml"/><Relationship Id="rId5" Type="http://schemas.openxmlformats.org/officeDocument/2006/relationships/hyperlink" Target="http://github.com/sjegoodman/monarch-migration" TargetMode="External"/><Relationship Id="rId4" Type="http://schemas.openxmlformats.org/officeDocument/2006/relationships/image" Target="../media/image3.jp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13"/>
          <p:cNvSpPr txBox="1">
            <a:spLocks noGrp="1"/>
          </p:cNvSpPr>
          <p:nvPr>
            <p:ph type="ctrTitle"/>
          </p:nvPr>
        </p:nvSpPr>
        <p:spPr>
          <a:xfrm>
            <a:off x="2371725" y="630225"/>
            <a:ext cx="6331500" cy="1542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Monarch Migration Analysis</a:t>
            </a:r>
            <a:endParaRPr dirty="0">
              <a:latin typeface="Lato" panose="020F0502020204030203" pitchFamily="34" charset="0"/>
              <a:ea typeface="Lato" panose="020F0502020204030203" pitchFamily="34" charset="0"/>
              <a:cs typeface="Lato" panose="020F0502020204030203" pitchFamily="34" charset="0"/>
            </a:endParaRPr>
          </a:p>
        </p:txBody>
      </p:sp>
      <p:sp>
        <p:nvSpPr>
          <p:cNvPr id="73" name="Google Shape;73;p13"/>
          <p:cNvSpPr txBox="1">
            <a:spLocks noGrp="1"/>
          </p:cNvSpPr>
          <p:nvPr>
            <p:ph type="subTitle" idx="1"/>
          </p:nvPr>
        </p:nvSpPr>
        <p:spPr>
          <a:xfrm>
            <a:off x="311700" y="3434393"/>
            <a:ext cx="8520600" cy="1256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Samant</a:t>
            </a:r>
            <a:r>
              <a:rPr lang="en-US" dirty="0"/>
              <a:t>ha Goodman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Updated Oct 2026</a:t>
            </a:r>
          </a:p>
          <a:p>
            <a:pPr marL="0" lvl="0" indent="0"/>
            <a:r>
              <a:rPr lang="en-US" dirty="0">
                <a:solidFill>
                  <a:schemeClr val="bg1"/>
                </a:solidFill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github.com/</a:t>
            </a:r>
            <a:r>
              <a:rPr lang="en-US" dirty="0" err="1">
                <a:solidFill>
                  <a:schemeClr val="bg1"/>
                </a:solidFill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sjegoodman</a:t>
            </a:r>
            <a:r>
              <a:rPr lang="en-US" dirty="0">
                <a:solidFill>
                  <a:schemeClr val="bg1"/>
                </a:solidFill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/monarch-migration</a:t>
            </a:r>
            <a:endParaRPr dirty="0">
              <a:solidFill>
                <a:schemeClr val="bg1"/>
              </a:solidFill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4"/>
          <p:cNvSpPr txBox="1">
            <a:spLocks noGrp="1"/>
          </p:cNvSpPr>
          <p:nvPr>
            <p:ph type="body" idx="1"/>
          </p:nvPr>
        </p:nvSpPr>
        <p:spPr>
          <a:xfrm>
            <a:off x="2410112" y="1595776"/>
            <a:ext cx="6321600" cy="3002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dirty="0"/>
              <a:t>Eastern monarch butterflies (</a:t>
            </a:r>
            <a:r>
              <a:rPr lang="en" i="1" dirty="0"/>
              <a:t>Danaus plexippus</a:t>
            </a:r>
            <a:r>
              <a:rPr lang="en" dirty="0"/>
              <a:t>) leave their overwintering sites in the mountains of Mexico each spring</a:t>
            </a:r>
            <a:endParaRPr dirty="0"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dirty="0"/>
              <a:t>They spend the summer traveling north and breeding</a:t>
            </a:r>
            <a:endParaRPr dirty="0"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dirty="0"/>
              <a:t>After 2-3 generations, and starting in August, the monarch population travels south to return to the overwintering site</a:t>
            </a:r>
            <a:endParaRPr dirty="0"/>
          </a:p>
        </p:txBody>
      </p:sp>
      <p:sp>
        <p:nvSpPr>
          <p:cNvPr id="79" name="Google Shape;79;p14"/>
          <p:cNvSpPr txBox="1">
            <a:spLocks noGrp="1"/>
          </p:cNvSpPr>
          <p:nvPr>
            <p:ph type="title"/>
          </p:nvPr>
        </p:nvSpPr>
        <p:spPr>
          <a:xfrm>
            <a:off x="2400250" y="575950"/>
            <a:ext cx="6321600" cy="635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Background</a:t>
            </a:r>
            <a:endParaRPr dirty="0">
              <a:latin typeface="Lato" panose="020F0502020204030203" pitchFamily="34" charset="0"/>
              <a:ea typeface="Lato" panose="020F0502020204030203" pitchFamily="34" charset="0"/>
              <a:cs typeface="Lato" panose="020F0502020204030203" pitchFamily="34" charset="0"/>
            </a:endParaRPr>
          </a:p>
        </p:txBody>
      </p:sp>
      <p:pic>
        <p:nvPicPr>
          <p:cNvPr id="80" name="Google Shape;80;p1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575948"/>
            <a:ext cx="2191901" cy="1643926"/>
          </a:xfrm>
          <a:prstGeom prst="rect">
            <a:avLst/>
          </a:prstGeom>
          <a:noFill/>
          <a:ln>
            <a:noFill/>
          </a:ln>
        </p:spPr>
      </p:pic>
      <p:pic>
        <p:nvPicPr>
          <p:cNvPr id="81" name="Google Shape;81;p14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" y="2220213"/>
            <a:ext cx="2191901" cy="175353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6" name="Google Shape;86;p15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553213" y="-32225"/>
            <a:ext cx="8037565" cy="52079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Google Shape;91;p16"/>
          <p:cNvSpPr txBox="1">
            <a:spLocks noGrp="1"/>
          </p:cNvSpPr>
          <p:nvPr>
            <p:ph type="title"/>
          </p:nvPr>
        </p:nvSpPr>
        <p:spPr>
          <a:xfrm>
            <a:off x="4572000" y="601725"/>
            <a:ext cx="3994800" cy="635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Data Source</a:t>
            </a:r>
            <a:endParaRPr dirty="0">
              <a:latin typeface="Lato" panose="020F0502020204030203" pitchFamily="34" charset="0"/>
              <a:ea typeface="Lato" panose="020F0502020204030203" pitchFamily="34" charset="0"/>
              <a:cs typeface="Lato" panose="020F0502020204030203" pitchFamily="34" charset="0"/>
            </a:endParaRPr>
          </a:p>
        </p:txBody>
      </p:sp>
      <p:sp>
        <p:nvSpPr>
          <p:cNvPr id="92" name="Google Shape;92;p16"/>
          <p:cNvSpPr txBox="1">
            <a:spLocks noGrp="1"/>
          </p:cNvSpPr>
          <p:nvPr>
            <p:ph type="body" idx="1"/>
          </p:nvPr>
        </p:nvSpPr>
        <p:spPr>
          <a:xfrm>
            <a:off x="4169605" y="1441075"/>
            <a:ext cx="3994800" cy="3002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dirty="0"/>
              <a:t>Citizen scientists submit monarch observations to Journey North (https://journeynorth.org/)</a:t>
            </a:r>
            <a:endParaRPr dirty="0"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dirty="0"/>
              <a:t>Many types of observations are submitted</a:t>
            </a:r>
            <a:endParaRPr dirty="0"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dirty="0"/>
              <a:t>I focused on </a:t>
            </a:r>
            <a:r>
              <a:rPr lang="en" b="1" dirty="0"/>
              <a:t>Roosts </a:t>
            </a:r>
            <a:r>
              <a:rPr lang="en" dirty="0"/>
              <a:t>and </a:t>
            </a:r>
            <a:r>
              <a:rPr lang="en" b="1" dirty="0"/>
              <a:t>Peak Migration Events</a:t>
            </a:r>
            <a:endParaRPr b="1" dirty="0"/>
          </a:p>
        </p:txBody>
      </p:sp>
      <p:pic>
        <p:nvPicPr>
          <p:cNvPr id="93" name="Google Shape;93;p1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50453" y="732825"/>
            <a:ext cx="3107348" cy="2071039"/>
          </a:xfrm>
          <a:prstGeom prst="rect">
            <a:avLst/>
          </a:prstGeom>
          <a:noFill/>
          <a:ln>
            <a:noFill/>
          </a:ln>
        </p:spPr>
      </p:pic>
      <p:pic>
        <p:nvPicPr>
          <p:cNvPr id="94" name="Google Shape;94;p16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350450" y="2894273"/>
            <a:ext cx="3107355" cy="207105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9">
          <a:extLst>
            <a:ext uri="{FF2B5EF4-FFF2-40B4-BE49-F238E27FC236}">
              <a16:creationId xmlns:a16="http://schemas.microsoft.com/office/drawing/2014/main" id="{B8A124CE-6E9C-9A69-A554-D0066E3C64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0">
            <a:extLst>
              <a:ext uri="{FF2B5EF4-FFF2-40B4-BE49-F238E27FC236}">
                <a16:creationId xmlns:a16="http://schemas.microsoft.com/office/drawing/2014/main" id="{C1B92218-0724-C536-9CCE-67116BF0D76E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2400250" y="575950"/>
            <a:ext cx="6321600" cy="635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Technologies Used</a:t>
            </a:r>
            <a:endParaRPr dirty="0">
              <a:latin typeface="Lato" panose="020F0502020204030203" pitchFamily="34" charset="0"/>
              <a:ea typeface="Lato" panose="020F0502020204030203" pitchFamily="34" charset="0"/>
              <a:cs typeface="Lato" panose="020F0502020204030203" pitchFamily="34" charset="0"/>
            </a:endParaRPr>
          </a:p>
        </p:txBody>
      </p:sp>
      <p:sp>
        <p:nvSpPr>
          <p:cNvPr id="121" name="Google Shape;121;p20">
            <a:extLst>
              <a:ext uri="{FF2B5EF4-FFF2-40B4-BE49-F238E27FC236}">
                <a16:creationId xmlns:a16="http://schemas.microsoft.com/office/drawing/2014/main" id="{BCC796EC-1BFD-4AF1-D5A2-49736E91397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2410112" y="1595776"/>
            <a:ext cx="6321600" cy="3002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lvl="0"/>
            <a:r>
              <a:rPr lang="en-US" sz="1600" b="1" dirty="0"/>
              <a:t>Load and clean:</a:t>
            </a:r>
            <a:r>
              <a:rPr lang="en-US" sz="1600" dirty="0"/>
              <a:t> Python, pandas</a:t>
            </a:r>
          </a:p>
          <a:p>
            <a:pPr lvl="0"/>
            <a:r>
              <a:rPr lang="en-US" sz="1600" b="1" dirty="0"/>
              <a:t>Analyze:</a:t>
            </a:r>
            <a:r>
              <a:rPr lang="en-US" sz="1600" dirty="0"/>
              <a:t> pandas (monthly latitude quartiles)</a:t>
            </a:r>
          </a:p>
          <a:p>
            <a:pPr lvl="0"/>
            <a:r>
              <a:rPr lang="en-US" sz="1600" b="1" dirty="0"/>
              <a:t>Map:</a:t>
            </a:r>
            <a:r>
              <a:rPr lang="en-US" sz="1600" dirty="0"/>
              <a:t> folium (Leaflet maps in Python)</a:t>
            </a:r>
          </a:p>
          <a:p>
            <a:pPr lvl="0"/>
            <a:r>
              <a:rPr lang="en-US" sz="1600" b="1" dirty="0"/>
              <a:t>Animate:</a:t>
            </a:r>
            <a:r>
              <a:rPr lang="en-US" sz="1600" dirty="0"/>
              <a:t> Selenium (screenshotting each weekly map), Pillow, </a:t>
            </a:r>
            <a:r>
              <a:rPr lang="en-US" sz="1600" dirty="0" err="1"/>
              <a:t>imageio</a:t>
            </a:r>
            <a:endParaRPr lang="en-US" sz="1600" dirty="0"/>
          </a:p>
          <a:p>
            <a:pPr lvl="0"/>
            <a:r>
              <a:rPr lang="en-US" sz="1600" b="1" dirty="0"/>
              <a:t>Share:</a:t>
            </a:r>
            <a:r>
              <a:rPr lang="en-US" sz="1600" dirty="0"/>
              <a:t> Jupyter, GitHub Pages, Tableau Public</a:t>
            </a:r>
          </a:p>
          <a:p>
            <a:pPr lvl="0"/>
            <a:endParaRPr sz="1700" dirty="0"/>
          </a:p>
        </p:txBody>
      </p:sp>
      <p:pic>
        <p:nvPicPr>
          <p:cNvPr id="3" name="Google Shape;80;p14">
            <a:extLst>
              <a:ext uri="{FF2B5EF4-FFF2-40B4-BE49-F238E27FC236}">
                <a16:creationId xmlns:a16="http://schemas.microsoft.com/office/drawing/2014/main" id="{CEAC9A12-2ECE-4400-18CA-F513FA5665CC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575948"/>
            <a:ext cx="2191901" cy="1643926"/>
          </a:xfrm>
          <a:prstGeom prst="rect">
            <a:avLst/>
          </a:prstGeom>
          <a:noFill/>
          <a:ln>
            <a:noFill/>
          </a:ln>
        </p:spPr>
      </p:pic>
      <p:pic>
        <p:nvPicPr>
          <p:cNvPr id="5" name="Google Shape;81;p14">
            <a:extLst>
              <a:ext uri="{FF2B5EF4-FFF2-40B4-BE49-F238E27FC236}">
                <a16:creationId xmlns:a16="http://schemas.microsoft.com/office/drawing/2014/main" id="{DC3F10FB-5274-14F1-0CB6-7B2D78322F30}"/>
              </a:ext>
            </a:extLst>
          </p:cNvPr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" y="2220213"/>
            <a:ext cx="2191901" cy="1753532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124480262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7"/>
          <p:cNvSpPr txBox="1">
            <a:spLocks noGrp="1"/>
          </p:cNvSpPr>
          <p:nvPr>
            <p:ph type="title"/>
          </p:nvPr>
        </p:nvSpPr>
        <p:spPr>
          <a:xfrm>
            <a:off x="2400250" y="575950"/>
            <a:ext cx="6321600" cy="635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My Analysis</a:t>
            </a:r>
            <a:endParaRPr dirty="0">
              <a:latin typeface="Lato" panose="020F0502020204030203" pitchFamily="34" charset="0"/>
              <a:ea typeface="Lato" panose="020F0502020204030203" pitchFamily="34" charset="0"/>
              <a:cs typeface="Lato" panose="020F0502020204030203" pitchFamily="34" charset="0"/>
            </a:endParaRPr>
          </a:p>
        </p:txBody>
      </p:sp>
      <p:sp>
        <p:nvSpPr>
          <p:cNvPr id="100" name="Google Shape;100;p17"/>
          <p:cNvSpPr txBox="1">
            <a:spLocks noGrp="1"/>
          </p:cNvSpPr>
          <p:nvPr>
            <p:ph type="body" idx="1"/>
          </p:nvPr>
        </p:nvSpPr>
        <p:spPr>
          <a:xfrm>
            <a:off x="6064550" y="1312175"/>
            <a:ext cx="2874900" cy="332217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85000" lnSpcReduction="10000"/>
          </a:bodyPr>
          <a:lstStyle/>
          <a:p>
            <a:pPr marL="457200" lvl="0" indent="-334327" algn="l" rtl="0">
              <a:spcBef>
                <a:spcPts val="0"/>
              </a:spcBef>
              <a:spcAft>
                <a:spcPts val="0"/>
              </a:spcAft>
              <a:buSzPct val="100000"/>
              <a:buChar char="●"/>
            </a:pPr>
            <a:r>
              <a:rPr lang="en" dirty="0"/>
              <a:t>The map shows the median latitude for that month (solid orange line) and the quartiles Q1-Q3 inside the light orange areas</a:t>
            </a:r>
            <a:endParaRPr dirty="0"/>
          </a:p>
          <a:p>
            <a:pPr marL="457200" lvl="0" indent="-334327" algn="l" rtl="0">
              <a:spcBef>
                <a:spcPts val="0"/>
              </a:spcBef>
              <a:spcAft>
                <a:spcPts val="0"/>
              </a:spcAft>
              <a:buSzPct val="100000"/>
              <a:buChar char="●"/>
            </a:pPr>
            <a:r>
              <a:rPr lang="en" dirty="0"/>
              <a:t>50% of the observations for each month fall within the shaded area</a:t>
            </a:r>
          </a:p>
          <a:p>
            <a:pPr lvl="0" indent="-334327">
              <a:buSzPct val="100000"/>
            </a:pPr>
            <a:r>
              <a:rPr lang="en-US" dirty="0"/>
              <a:t>Median latitude moves from 44.6°N in August to 25.6°N in November, about 1,300 miles south</a:t>
            </a:r>
            <a:endParaRPr dirty="0"/>
          </a:p>
        </p:txBody>
      </p:sp>
      <p:pic>
        <p:nvPicPr>
          <p:cNvPr id="101" name="Google Shape;101;p17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-322275" y="719450"/>
            <a:ext cx="6268799" cy="3704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Google Shape;106;p18"/>
          <p:cNvSpPr txBox="1">
            <a:spLocks noGrp="1"/>
          </p:cNvSpPr>
          <p:nvPr>
            <p:ph type="title"/>
          </p:nvPr>
        </p:nvSpPr>
        <p:spPr>
          <a:xfrm>
            <a:off x="2400250" y="575950"/>
            <a:ext cx="6321600" cy="635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Animated Gif</a:t>
            </a:r>
            <a:endParaRPr dirty="0">
              <a:latin typeface="Lato" panose="020F0502020204030203" pitchFamily="34" charset="0"/>
              <a:ea typeface="Lato" panose="020F0502020204030203" pitchFamily="34" charset="0"/>
              <a:cs typeface="Lato" panose="020F0502020204030203" pitchFamily="34" charset="0"/>
            </a:endParaRPr>
          </a:p>
        </p:txBody>
      </p:sp>
      <p:sp>
        <p:nvSpPr>
          <p:cNvPr id="107" name="Google Shape;107;p18"/>
          <p:cNvSpPr txBox="1">
            <a:spLocks noGrp="1"/>
          </p:cNvSpPr>
          <p:nvPr>
            <p:ph type="body" idx="1"/>
          </p:nvPr>
        </p:nvSpPr>
        <p:spPr>
          <a:xfrm>
            <a:off x="6064550" y="1312175"/>
            <a:ext cx="2874900" cy="3002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2500"/>
          </a:bodyPr>
          <a:lstStyle/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dirty="0"/>
              <a:t>I created an animated gif showing the monarch migration for one season (Fall 2019)</a:t>
            </a:r>
            <a:endParaRPr dirty="0"/>
          </a:p>
          <a:p>
            <a:pPr lvl="0"/>
            <a:r>
              <a:rPr lang="en" dirty="0"/>
              <a:t>Available online</a:t>
            </a:r>
            <a:br>
              <a:rPr lang="en" dirty="0"/>
            </a:br>
            <a:r>
              <a:rPr lang="en-US" dirty="0">
                <a:hlinkClick r:id="rId3"/>
              </a:rPr>
              <a:t>https://sjegoodman.github.io/monarch-migration/GifMap/GifMap2019.gif</a:t>
            </a:r>
            <a:endParaRPr dirty="0"/>
          </a:p>
        </p:txBody>
      </p:sp>
      <p:pic>
        <p:nvPicPr>
          <p:cNvPr id="108" name="Google Shape;108;p18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09275" y="787424"/>
            <a:ext cx="5877950" cy="35686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9"/>
          <p:cNvSpPr txBox="1">
            <a:spLocks noGrp="1"/>
          </p:cNvSpPr>
          <p:nvPr>
            <p:ph type="title"/>
          </p:nvPr>
        </p:nvSpPr>
        <p:spPr>
          <a:xfrm>
            <a:off x="2400250" y="575950"/>
            <a:ext cx="6321600" cy="635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Interactive Map</a:t>
            </a:r>
            <a:endParaRPr dirty="0">
              <a:latin typeface="Lato" panose="020F0502020204030203" pitchFamily="34" charset="0"/>
              <a:ea typeface="Lato" panose="020F0502020204030203" pitchFamily="34" charset="0"/>
              <a:cs typeface="Lato" panose="020F0502020204030203" pitchFamily="34" charset="0"/>
            </a:endParaRPr>
          </a:p>
        </p:txBody>
      </p:sp>
      <p:sp>
        <p:nvSpPr>
          <p:cNvPr id="114" name="Google Shape;114;p19"/>
          <p:cNvSpPr txBox="1">
            <a:spLocks noGrp="1"/>
          </p:cNvSpPr>
          <p:nvPr>
            <p:ph type="body" idx="1"/>
          </p:nvPr>
        </p:nvSpPr>
        <p:spPr>
          <a:xfrm>
            <a:off x="6064550" y="1312175"/>
            <a:ext cx="2874900" cy="3002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2500" lnSpcReduction="10000"/>
          </a:bodyPr>
          <a:lstStyle/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dirty="0"/>
              <a:t>I created an interactive maps showing reported migration events for two months of 2020</a:t>
            </a:r>
            <a:endParaRPr dirty="0"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dirty="0"/>
              <a:t>Available here:</a:t>
            </a:r>
            <a:endParaRPr dirty="0"/>
          </a:p>
          <a:p>
            <a:pPr marL="914400" lvl="1" indent="-317500" algn="l" rtl="0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u="sng" dirty="0">
                <a:solidFill>
                  <a:schemeClr val="hlink"/>
                </a:solidFill>
                <a:hlinkClick r:id="rId3"/>
              </a:rPr>
              <a:t>August 2020</a:t>
            </a:r>
            <a:endParaRPr dirty="0"/>
          </a:p>
          <a:p>
            <a:pPr marL="914400" lvl="1" indent="-317500" algn="l" rtl="0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u="sng" dirty="0">
                <a:solidFill>
                  <a:schemeClr val="hlink"/>
                </a:solidFill>
                <a:hlinkClick r:id="rId4"/>
              </a:rPr>
              <a:t>September 2020</a:t>
            </a:r>
            <a:endParaRPr lang="en" u="sng" dirty="0">
              <a:solidFill>
                <a:schemeClr val="hlink"/>
              </a:solidFill>
            </a:endParaRPr>
          </a:p>
          <a:p>
            <a:pPr marL="425450" indent="-285750">
              <a:buSzPts val="1400"/>
            </a:pPr>
            <a:r>
              <a:rPr lang="en" dirty="0"/>
              <a:t>Update – switched to text boxes instead of images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5D974706-2E45-2E5D-87AC-836C1B95228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04550" y="500150"/>
            <a:ext cx="5604796" cy="417345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0"/>
          <p:cNvSpPr txBox="1">
            <a:spLocks noGrp="1"/>
          </p:cNvSpPr>
          <p:nvPr>
            <p:ph type="title"/>
          </p:nvPr>
        </p:nvSpPr>
        <p:spPr>
          <a:xfrm>
            <a:off x="2400250" y="575950"/>
            <a:ext cx="6321600" cy="635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Limitations</a:t>
            </a:r>
            <a:endParaRPr dirty="0">
              <a:latin typeface="Lato" panose="020F0502020204030203" pitchFamily="34" charset="0"/>
              <a:ea typeface="Lato" panose="020F0502020204030203" pitchFamily="34" charset="0"/>
              <a:cs typeface="Lato" panose="020F0502020204030203" pitchFamily="34" charset="0"/>
            </a:endParaRPr>
          </a:p>
        </p:txBody>
      </p:sp>
      <p:sp>
        <p:nvSpPr>
          <p:cNvPr id="121" name="Google Shape;121;p20"/>
          <p:cNvSpPr txBox="1">
            <a:spLocks noGrp="1"/>
          </p:cNvSpPr>
          <p:nvPr>
            <p:ph type="body" idx="1"/>
          </p:nvPr>
        </p:nvSpPr>
        <p:spPr>
          <a:xfrm>
            <a:off x="2410112" y="1595776"/>
            <a:ext cx="6321600" cy="3002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All of the observations are submitted by volunteers, and thus prone to errors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This was not a longitudinal study, so it was not possible to compare year to year - observations submitted over time have increased, but likely due to popularity of Journey North increasing, not monarch butterfly population increase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9">
          <a:extLst>
            <a:ext uri="{FF2B5EF4-FFF2-40B4-BE49-F238E27FC236}">
              <a16:creationId xmlns:a16="http://schemas.microsoft.com/office/drawing/2014/main" id="{1510F2F4-03F1-C6D5-2747-DD8F5A3A466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0">
            <a:extLst>
              <a:ext uri="{FF2B5EF4-FFF2-40B4-BE49-F238E27FC236}">
                <a16:creationId xmlns:a16="http://schemas.microsoft.com/office/drawing/2014/main" id="{C644E466-CE66-6FC1-38BB-328D82998B48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2400250" y="575950"/>
            <a:ext cx="6321600" cy="635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Updating an old project</a:t>
            </a:r>
            <a:endParaRPr dirty="0">
              <a:latin typeface="Lato" panose="020F0502020204030203" pitchFamily="34" charset="0"/>
              <a:ea typeface="Lato" panose="020F0502020204030203" pitchFamily="34" charset="0"/>
              <a:cs typeface="Lato" panose="020F0502020204030203" pitchFamily="34" charset="0"/>
            </a:endParaRPr>
          </a:p>
        </p:txBody>
      </p:sp>
      <p:sp>
        <p:nvSpPr>
          <p:cNvPr id="121" name="Google Shape;121;p20">
            <a:extLst>
              <a:ext uri="{FF2B5EF4-FFF2-40B4-BE49-F238E27FC236}">
                <a16:creationId xmlns:a16="http://schemas.microsoft.com/office/drawing/2014/main" id="{9C1E346C-C88B-2375-D4A2-781FB5C1B30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2410112" y="1316183"/>
            <a:ext cx="6311738" cy="3394362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lvl="0"/>
            <a:r>
              <a:rPr lang="en-US" sz="1600" b="1" dirty="0"/>
              <a:t>In four years, some things broke: </a:t>
            </a:r>
            <a:r>
              <a:rPr lang="en-US" sz="1600" dirty="0"/>
              <a:t>observer photos are no longer hosted on the original site; the data source now requires a login; libraries were updated</a:t>
            </a:r>
          </a:p>
          <a:p>
            <a:pPr lvl="0"/>
            <a:r>
              <a:rPr lang="en-US" sz="1600" b="1" dirty="0"/>
              <a:t>Things that helped me:</a:t>
            </a:r>
            <a:r>
              <a:rPr lang="en-US" sz="1600" dirty="0"/>
              <a:t> cached data, well commented and chunked code made it easy to understand and update</a:t>
            </a:r>
          </a:p>
          <a:p>
            <a:pPr lvl="0"/>
            <a:r>
              <a:rPr lang="en-US" sz="1600" b="1" dirty="0"/>
              <a:t>Bug found:</a:t>
            </a:r>
            <a:r>
              <a:rPr lang="en-US" sz="1600" dirty="0"/>
              <a:t> a </a:t>
            </a:r>
            <a:r>
              <a:rPr lang="en-US" dirty="0" err="1"/>
              <a:t>dropna</a:t>
            </a:r>
            <a:r>
              <a:rPr lang="en-US" dirty="0"/>
              <a:t>()</a:t>
            </a:r>
            <a:r>
              <a:rPr lang="en-US" sz="1600" dirty="0"/>
              <a:t> that silently dropped about half the sightings from the gif and maps</a:t>
            </a:r>
          </a:p>
          <a:p>
            <a:pPr lvl="0"/>
            <a:r>
              <a:rPr lang="en-US" sz="1600" b="1" dirty="0"/>
              <a:t>How I used AI:</a:t>
            </a:r>
            <a:r>
              <a:rPr lang="en-US" sz="1600" dirty="0"/>
              <a:t> it scanned my old code, suggested updates, and flagged a bug I hadn’t noticed. I verified the updated code reproduced my original results</a:t>
            </a:r>
            <a:endParaRPr sz="1700" dirty="0"/>
          </a:p>
        </p:txBody>
      </p:sp>
      <p:pic>
        <p:nvPicPr>
          <p:cNvPr id="3" name="Google Shape;80;p14">
            <a:extLst>
              <a:ext uri="{FF2B5EF4-FFF2-40B4-BE49-F238E27FC236}">
                <a16:creationId xmlns:a16="http://schemas.microsoft.com/office/drawing/2014/main" id="{A5885F56-5EE9-2355-EA05-CE33FB1A7DD6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575948"/>
            <a:ext cx="2191901" cy="1643926"/>
          </a:xfrm>
          <a:prstGeom prst="rect">
            <a:avLst/>
          </a:prstGeom>
          <a:noFill/>
          <a:ln>
            <a:noFill/>
          </a:ln>
        </p:spPr>
      </p:pic>
      <p:pic>
        <p:nvPicPr>
          <p:cNvPr id="5" name="Google Shape;81;p14">
            <a:extLst>
              <a:ext uri="{FF2B5EF4-FFF2-40B4-BE49-F238E27FC236}">
                <a16:creationId xmlns:a16="http://schemas.microsoft.com/office/drawing/2014/main" id="{2A25F044-818B-6903-447B-CF105A00544C}"/>
              </a:ext>
            </a:extLst>
          </p:cNvPr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" y="2220213"/>
            <a:ext cx="2191901" cy="1753532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FF7EED08-4B85-4061-8FD7-0E31A9FC545F}"/>
              </a:ext>
            </a:extLst>
          </p:cNvPr>
          <p:cNvSpPr txBox="1"/>
          <p:nvPr/>
        </p:nvSpPr>
        <p:spPr>
          <a:xfrm>
            <a:off x="5388837" y="4710545"/>
            <a:ext cx="408016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bg2"/>
                </a:solidFill>
                <a:hlinkClick r:id="rId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github.com/</a:t>
            </a:r>
            <a:r>
              <a:rPr lang="en-US" dirty="0" err="1">
                <a:solidFill>
                  <a:schemeClr val="bg2"/>
                </a:solidFill>
                <a:hlinkClick r:id="rId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sjegoodman</a:t>
            </a:r>
            <a:r>
              <a:rPr lang="en-US" dirty="0">
                <a:solidFill>
                  <a:schemeClr val="bg2"/>
                </a:solidFill>
                <a:hlinkClick r:id="rId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/monarch-migration</a:t>
            </a:r>
            <a:endParaRPr lang="en-US" dirty="0">
              <a:solidFill>
                <a:schemeClr val="bg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501491025"/>
      </p:ext>
    </p:extLst>
  </p:cSld>
  <p:clrMapOvr>
    <a:masterClrMapping/>
  </p:clrMapOvr>
</p:sld>
</file>

<file path=ppt/theme/theme1.xml><?xml version="1.0" encoding="utf-8"?>
<a:theme xmlns:a="http://schemas.openxmlformats.org/drawingml/2006/main" name="Swiss">
  <a:themeElements>
    <a:clrScheme name="Swiss">
      <a:dk1>
        <a:srgbClr val="F46524"/>
      </a:dk1>
      <a:lt1>
        <a:srgbClr val="FFFFFF"/>
      </a:lt1>
      <a:dk2>
        <a:srgbClr val="000000"/>
      </a:dk2>
      <a:lt2>
        <a:srgbClr val="757575"/>
      </a:lt2>
      <a:accent1>
        <a:srgbClr val="01579B"/>
      </a:accent1>
      <a:accent2>
        <a:srgbClr val="27C7BD"/>
      </a:accent2>
      <a:accent3>
        <a:srgbClr val="0099E8"/>
      </a:accent3>
      <a:accent4>
        <a:srgbClr val="51B9A3"/>
      </a:accent4>
      <a:accent5>
        <a:srgbClr val="FB8C00"/>
      </a:accent5>
      <a:accent6>
        <a:srgbClr val="FFAE88"/>
      </a:accent6>
      <a:hlink>
        <a:srgbClr val="0277BD"/>
      </a:hlink>
      <a:folHlink>
        <a:srgbClr val="0277BD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201</TotalTime>
  <Words>432</Words>
  <Application>Microsoft Office PowerPoint</Application>
  <PresentationFormat>On-screen Show (16:9)</PresentationFormat>
  <Paragraphs>40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4" baseType="lpstr">
      <vt:lpstr>Raleway</vt:lpstr>
      <vt:lpstr>Lato</vt:lpstr>
      <vt:lpstr>Arial</vt:lpstr>
      <vt:lpstr>Swiss</vt:lpstr>
      <vt:lpstr>Monarch Migration Analysis</vt:lpstr>
      <vt:lpstr>Background</vt:lpstr>
      <vt:lpstr>PowerPoint Presentation</vt:lpstr>
      <vt:lpstr>Data Source</vt:lpstr>
      <vt:lpstr>Technologies Used</vt:lpstr>
      <vt:lpstr>My Analysis</vt:lpstr>
      <vt:lpstr>Animated Gif</vt:lpstr>
      <vt:lpstr>Interactive Map</vt:lpstr>
      <vt:lpstr>Limitations</vt:lpstr>
      <vt:lpstr>Updating an old project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Goodman, Samantha</cp:lastModifiedBy>
  <cp:revision>9</cp:revision>
  <dcterms:modified xsi:type="dcterms:W3CDTF">2026-10-21T16:50:59Z</dcterms:modified>
</cp:coreProperties>
</file>