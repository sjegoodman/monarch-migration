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</p:sldIdLst>
  <p:sldSz cx="9144000" cy="5143500" type="screen16x9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1078dd6f49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1078dd6f49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078dd6f49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078dd6f49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078dd6f49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078dd6f49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733B446-1CC4-F1FC-73B5-3C57BFF19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078dd6f49_0_281:notes">
            <a:extLst>
              <a:ext uri="{FF2B5EF4-FFF2-40B4-BE49-F238E27FC236}">
                <a16:creationId xmlns:a16="http://schemas.microsoft.com/office/drawing/2014/main" id="{0A8F206A-C02F-5E26-DEA2-C40697CF1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078dd6f49_0_281:notes">
            <a:extLst>
              <a:ext uri="{FF2B5EF4-FFF2-40B4-BE49-F238E27FC236}">
                <a16:creationId xmlns:a16="http://schemas.microsoft.com/office/drawing/2014/main" id="{871E1738-D089-013B-CA1F-D0644E595A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1812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078dd6f49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1078dd6f49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078dd6f49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1078dd6f49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078dd6f49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078dd6f49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078dd6f49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078dd6f49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11825A6-F194-EEB7-4B01-6A9EA78A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078dd6f49_0_281:notes">
            <a:extLst>
              <a:ext uri="{FF2B5EF4-FFF2-40B4-BE49-F238E27FC236}">
                <a16:creationId xmlns:a16="http://schemas.microsoft.com/office/drawing/2014/main" id="{42EEF7B1-3114-9DEE-5D52-50039A3E1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078dd6f49_0_281:notes">
            <a:extLst>
              <a:ext uri="{FF2B5EF4-FFF2-40B4-BE49-F238E27FC236}">
                <a16:creationId xmlns:a16="http://schemas.microsoft.com/office/drawing/2014/main" id="{A3EA7525-25D8-70DA-D354-A9A14666B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708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jegoodman.github.io/monarch-migration/GifMap/GifMap2019.gi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jegoodman.github.io/monarch-migration/Aug2020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hyperlink" Target="https://sjegoodman.github.io/monarch-migration/Sep2020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Monarch Migration Analysis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60125" y="3607575"/>
            <a:ext cx="8520600" cy="125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Samant</a:t>
            </a:r>
            <a:r>
              <a:rPr lang="en-US" dirty="0"/>
              <a:t>ha Goodman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Updated Oct 2026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Eastern monarch butterflies (</a:t>
            </a:r>
            <a:r>
              <a:rPr lang="en" i="1" dirty="0"/>
              <a:t>Danaus plexippus</a:t>
            </a:r>
            <a:r>
              <a:rPr lang="en" dirty="0"/>
              <a:t>) leave their overwintering sites in the mountains of Mexico each spring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They spend the summer traveling north and breeding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After 2-3 generations, and starting in August, the monarch population travels south to return to the overwintering site</a:t>
            </a:r>
            <a:endParaRPr dirty="0"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Background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5948"/>
            <a:ext cx="2191901" cy="164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2220213"/>
            <a:ext cx="2191901" cy="1753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213" y="-32225"/>
            <a:ext cx="8037565" cy="520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4572000" y="601725"/>
            <a:ext cx="39948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Source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4169605" y="1441075"/>
            <a:ext cx="39948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Citizen scientists submit monarch observations to Journey North (https://journeynorth.org/)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Many types of observations are submitted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 focused on </a:t>
            </a:r>
            <a:r>
              <a:rPr lang="en" b="1" dirty="0"/>
              <a:t>Roosts </a:t>
            </a:r>
            <a:r>
              <a:rPr lang="en" dirty="0"/>
              <a:t>and </a:t>
            </a:r>
            <a:r>
              <a:rPr lang="en" b="1" dirty="0"/>
              <a:t>Peak Migration Events</a:t>
            </a:r>
            <a:endParaRPr b="1" dirty="0"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453" y="732825"/>
            <a:ext cx="3107348" cy="2071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450" y="2894273"/>
            <a:ext cx="3107355" cy="2071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B8A124CE-6E9C-9A69-A554-D0066E3C6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>
            <a:extLst>
              <a:ext uri="{FF2B5EF4-FFF2-40B4-BE49-F238E27FC236}">
                <a16:creationId xmlns:a16="http://schemas.microsoft.com/office/drawing/2014/main" id="{C1B92218-0724-C536-9CCE-67116BF0D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Technologies Used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1" name="Google Shape;121;p20">
            <a:extLst>
              <a:ext uri="{FF2B5EF4-FFF2-40B4-BE49-F238E27FC236}">
                <a16:creationId xmlns:a16="http://schemas.microsoft.com/office/drawing/2014/main" id="{BCC796EC-1BFD-4AF1-D5A2-49736E9139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1600" b="1" dirty="0"/>
              <a:t>Load and clean:</a:t>
            </a:r>
            <a:r>
              <a:rPr lang="en-US" sz="1600" dirty="0"/>
              <a:t> Python, pandas</a:t>
            </a:r>
          </a:p>
          <a:p>
            <a:pPr lvl="0"/>
            <a:r>
              <a:rPr lang="en-US" sz="1600" b="1" dirty="0"/>
              <a:t>Analyze:</a:t>
            </a:r>
            <a:r>
              <a:rPr lang="en-US" sz="1600" dirty="0"/>
              <a:t> pandas (monthly latitude quartiles)</a:t>
            </a:r>
          </a:p>
          <a:p>
            <a:pPr lvl="0"/>
            <a:r>
              <a:rPr lang="en-US" sz="1600" b="1" dirty="0"/>
              <a:t>Map:</a:t>
            </a:r>
            <a:r>
              <a:rPr lang="en-US" sz="1600" dirty="0"/>
              <a:t> folium (Leaflet maps in Python)</a:t>
            </a:r>
          </a:p>
          <a:p>
            <a:pPr lvl="0"/>
            <a:r>
              <a:rPr lang="en-US" sz="1600" b="1" dirty="0"/>
              <a:t>Animate:</a:t>
            </a:r>
            <a:r>
              <a:rPr lang="en-US" sz="1600" dirty="0"/>
              <a:t> Selenium (screenshotting each weekly map), Pillow, </a:t>
            </a:r>
            <a:r>
              <a:rPr lang="en-US" sz="1600" dirty="0" err="1"/>
              <a:t>imageio</a:t>
            </a:r>
            <a:endParaRPr lang="en-US" sz="1600" dirty="0"/>
          </a:p>
          <a:p>
            <a:pPr lvl="0"/>
            <a:r>
              <a:rPr lang="en-US" sz="1600" b="1" dirty="0"/>
              <a:t>Share:</a:t>
            </a:r>
            <a:r>
              <a:rPr lang="en-US" sz="1600" dirty="0"/>
              <a:t> Jupyter, GitHub Pages, Tableau Public</a:t>
            </a:r>
          </a:p>
          <a:p>
            <a:pPr lvl="0"/>
            <a:endParaRPr sz="1700" dirty="0"/>
          </a:p>
        </p:txBody>
      </p:sp>
      <p:pic>
        <p:nvPicPr>
          <p:cNvPr id="3" name="Google Shape;80;p14">
            <a:extLst>
              <a:ext uri="{FF2B5EF4-FFF2-40B4-BE49-F238E27FC236}">
                <a16:creationId xmlns:a16="http://schemas.microsoft.com/office/drawing/2014/main" id="{CEAC9A12-2ECE-4400-18CA-F513FA5665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5948"/>
            <a:ext cx="2191901" cy="164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1;p14">
            <a:extLst>
              <a:ext uri="{FF2B5EF4-FFF2-40B4-BE49-F238E27FC236}">
                <a16:creationId xmlns:a16="http://schemas.microsoft.com/office/drawing/2014/main" id="{DC3F10FB-5274-14F1-0CB6-7B2D78322F3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2220213"/>
            <a:ext cx="2191901" cy="17535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480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My Analysis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Google Shape;100;p17"/>
          <p:cNvSpPr txBox="1">
            <a:spLocks noGrp="1"/>
          </p:cNvSpPr>
          <p:nvPr>
            <p:ph type="body" idx="1"/>
          </p:nvPr>
        </p:nvSpPr>
        <p:spPr>
          <a:xfrm>
            <a:off x="6064550" y="1312175"/>
            <a:ext cx="2874900" cy="3322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dirty="0"/>
              <a:t>The map shows the median latitude for that month (solid orange line) and the quartiles Q1-Q3 inside the light orange areas</a:t>
            </a:r>
            <a:endParaRPr dirty="0"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dirty="0"/>
              <a:t>50% of the observations for each month fall within the shaded area</a:t>
            </a:r>
          </a:p>
          <a:p>
            <a:pPr lvl="0" indent="-334327">
              <a:buSzPct val="100000"/>
            </a:pPr>
            <a:r>
              <a:rPr lang="en-US" dirty="0"/>
              <a:t>Median latitude moves from 44.6°N in August to 25.6°N in November, about 1,300 miles south</a:t>
            </a:r>
            <a:endParaRPr dirty="0"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2275" y="719450"/>
            <a:ext cx="6268799" cy="37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Animated Gif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xfrm>
            <a:off x="6064550" y="1312175"/>
            <a:ext cx="28749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 created an animated gif showing the monarch migration for one season (Fall 2019)</a:t>
            </a:r>
            <a:endParaRPr dirty="0"/>
          </a:p>
          <a:p>
            <a:pPr lvl="0"/>
            <a:r>
              <a:rPr lang="en" dirty="0"/>
              <a:t>Available online</a:t>
            </a:r>
            <a:br>
              <a:rPr lang="en" dirty="0"/>
            </a:br>
            <a:r>
              <a:rPr lang="en-US" dirty="0">
                <a:hlinkClick r:id="rId3"/>
              </a:rPr>
              <a:t>https://sjegoodman.github.io/monarch-migration/GifMap/GifMap2019.gif</a:t>
            </a:r>
            <a:endParaRPr dirty="0"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275" y="787424"/>
            <a:ext cx="5877950" cy="356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Interactive Map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1"/>
          </p:nvPr>
        </p:nvSpPr>
        <p:spPr>
          <a:xfrm>
            <a:off x="6064550" y="1312175"/>
            <a:ext cx="28749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 created an interactive maps showing reported migration events for two months of 2020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Available here: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August 2020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September 2020</a:t>
            </a:r>
            <a:endParaRPr lang="en" u="sng" dirty="0">
              <a:solidFill>
                <a:schemeClr val="hlink"/>
              </a:solidFill>
            </a:endParaRPr>
          </a:p>
          <a:p>
            <a:pPr marL="425450" indent="-285750">
              <a:buSzPts val="1400"/>
            </a:pPr>
            <a:r>
              <a:rPr lang="en" dirty="0"/>
              <a:t>Update – switched to text boxes instead of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974706-2E45-2E5D-87AC-836C1B952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550" y="500150"/>
            <a:ext cx="5604796" cy="4173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Limitations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1" name="Google Shape;121;p20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of the observations are submitted by volunteers, and thus prone to errors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was not a longitudinal study, so it was not possible to compare year to year - observations submitted over time have increased, but likely due to popularity of Journey North increasing, not monarch butterfly population increase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1510F2F4-03F1-C6D5-2747-DD8F5A3A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>
            <a:extLst>
              <a:ext uri="{FF2B5EF4-FFF2-40B4-BE49-F238E27FC236}">
                <a16:creationId xmlns:a16="http://schemas.microsoft.com/office/drawing/2014/main" id="{C644E466-CE66-6FC1-38BB-328D82998B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Updating an old project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1" name="Google Shape;121;p20">
            <a:extLst>
              <a:ext uri="{FF2B5EF4-FFF2-40B4-BE49-F238E27FC236}">
                <a16:creationId xmlns:a16="http://schemas.microsoft.com/office/drawing/2014/main" id="{9C1E346C-C88B-2375-D4A2-781FB5C1B3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0112" y="1316183"/>
            <a:ext cx="6311738" cy="3394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1600" b="1" dirty="0"/>
              <a:t>In four years, some things broke: </a:t>
            </a:r>
            <a:r>
              <a:rPr lang="en-US" sz="1600" dirty="0"/>
              <a:t>observer photos are no longer hosted on the original site; the data source now requires a login; libraries were updated</a:t>
            </a:r>
          </a:p>
          <a:p>
            <a:pPr lvl="0"/>
            <a:r>
              <a:rPr lang="en-US" sz="1600" b="1" dirty="0"/>
              <a:t>Things that helped me:</a:t>
            </a:r>
            <a:r>
              <a:rPr lang="en-US" sz="1600" dirty="0"/>
              <a:t> cached data, well commented and chunked code made it easy to understand and update</a:t>
            </a:r>
          </a:p>
          <a:p>
            <a:pPr lvl="0"/>
            <a:r>
              <a:rPr lang="en-US" sz="1600" b="1" dirty="0"/>
              <a:t>Bug found:</a:t>
            </a:r>
            <a:r>
              <a:rPr lang="en-US" sz="1600" dirty="0"/>
              <a:t> a </a:t>
            </a:r>
            <a:r>
              <a:rPr lang="en-US" dirty="0" err="1"/>
              <a:t>dropna</a:t>
            </a:r>
            <a:r>
              <a:rPr lang="en-US" dirty="0"/>
              <a:t>()</a:t>
            </a:r>
            <a:r>
              <a:rPr lang="en-US" sz="1600" dirty="0"/>
              <a:t> that silently dropped about half the sightings from the gif and maps</a:t>
            </a:r>
          </a:p>
          <a:p>
            <a:pPr lvl="0"/>
            <a:r>
              <a:rPr lang="en-US" sz="1600" b="1" dirty="0"/>
              <a:t>How I used AI:</a:t>
            </a:r>
            <a:r>
              <a:rPr lang="en-US" sz="1600" dirty="0"/>
              <a:t> it scanned my old code, suggested updates, and flagged a bug I hadn’t noticed. I verified the updated code reproduced my original results</a:t>
            </a:r>
            <a:endParaRPr sz="1700" dirty="0"/>
          </a:p>
        </p:txBody>
      </p:sp>
      <p:pic>
        <p:nvPicPr>
          <p:cNvPr id="3" name="Google Shape;80;p14">
            <a:extLst>
              <a:ext uri="{FF2B5EF4-FFF2-40B4-BE49-F238E27FC236}">
                <a16:creationId xmlns:a16="http://schemas.microsoft.com/office/drawing/2014/main" id="{A5885F56-5EE9-2355-EA05-CE33FB1A7D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5948"/>
            <a:ext cx="2191901" cy="164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1;p14">
            <a:extLst>
              <a:ext uri="{FF2B5EF4-FFF2-40B4-BE49-F238E27FC236}">
                <a16:creationId xmlns:a16="http://schemas.microsoft.com/office/drawing/2014/main" id="{2A25F044-818B-6903-447B-CF105A00544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2220213"/>
            <a:ext cx="2191901" cy="17535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1491025"/>
      </p:ext>
    </p:extLst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418</Words>
  <Application>Microsoft Office PowerPoint</Application>
  <PresentationFormat>On-screen Show (16:9)</PresentationFormat>
  <Paragraphs>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Lato</vt:lpstr>
      <vt:lpstr>Raleway</vt:lpstr>
      <vt:lpstr>Arial</vt:lpstr>
      <vt:lpstr>Swiss</vt:lpstr>
      <vt:lpstr>Monarch Migration Analysis</vt:lpstr>
      <vt:lpstr>Background</vt:lpstr>
      <vt:lpstr>PowerPoint Presentation</vt:lpstr>
      <vt:lpstr>Data Source</vt:lpstr>
      <vt:lpstr>Technologies Used</vt:lpstr>
      <vt:lpstr>My Analysis</vt:lpstr>
      <vt:lpstr>Animated Gif</vt:lpstr>
      <vt:lpstr>Interactive Map</vt:lpstr>
      <vt:lpstr>Limitations</vt:lpstr>
      <vt:lpstr>Updating an old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Goodman, Samantha</cp:lastModifiedBy>
  <cp:revision>4</cp:revision>
  <dcterms:modified xsi:type="dcterms:W3CDTF">2026-10-19T20:25:15Z</dcterms:modified>
</cp:coreProperties>
</file>