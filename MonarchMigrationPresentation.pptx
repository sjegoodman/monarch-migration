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  <p:sldId id="265" r:id="rId11"/>
  </p:sldIdLst>
  <p:sldSz cx="9144000" cy="5143500" type="screen16x9"/>
  <p:notesSz cx="6858000" cy="9144000"/>
  <p:embeddedFontLst>
    <p:embeddedFont>
      <p:font typeface="Lato" panose="020F0502020204030203" pitchFamily="34" charset="0"/>
      <p:regular r:id="rId13"/>
      <p:bold r:id="rId14"/>
      <p:italic r:id="rId15"/>
      <p:boldItalic r:id="rId16"/>
    </p:embeddedFont>
    <p:embeddedFont>
      <p:font typeface="Raleway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11078dd6f49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11078dd6f49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11078dd6f49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11078dd6f49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11078dd6f49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11078dd6f49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E733B446-1CC4-F1FC-73B5-3C57BFF19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1078dd6f49_0_281:notes">
            <a:extLst>
              <a:ext uri="{FF2B5EF4-FFF2-40B4-BE49-F238E27FC236}">
                <a16:creationId xmlns:a16="http://schemas.microsoft.com/office/drawing/2014/main" id="{0A8F206A-C02F-5E26-DEA2-C40697CF1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1078dd6f49_0_281:notes">
            <a:extLst>
              <a:ext uri="{FF2B5EF4-FFF2-40B4-BE49-F238E27FC236}">
                <a16:creationId xmlns:a16="http://schemas.microsoft.com/office/drawing/2014/main" id="{871E1738-D089-013B-CA1F-D0644E595A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18129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1078dd6f49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1078dd6f49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1078dd6f49_0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11078dd6f49_0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11078dd6f49_0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11078dd6f49_0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1078dd6f49_0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1078dd6f49_0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011825A6-F194-EEB7-4B01-6A9EA78A0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1078dd6f49_0_281:notes">
            <a:extLst>
              <a:ext uri="{FF2B5EF4-FFF2-40B4-BE49-F238E27FC236}">
                <a16:creationId xmlns:a16="http://schemas.microsoft.com/office/drawing/2014/main" id="{42EEF7B1-3114-9DEE-5D52-50039A3E15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1078dd6f49_0_281:notes">
            <a:extLst>
              <a:ext uri="{FF2B5EF4-FFF2-40B4-BE49-F238E27FC236}">
                <a16:creationId xmlns:a16="http://schemas.microsoft.com/office/drawing/2014/main" id="{A3EA7525-25D8-70DA-D354-A9A14666BE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8708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8" name="Google Shape;18;p3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4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4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4" name="Google Shape;24;p4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" name="Google Shape;30;p5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1" name="Google Shape;31;p5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p8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0" name="Google Shape;5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0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" name="Google Shape;57;p10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Google Shape;61;p11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2" name="Google Shape;62;p11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" name="Google Shape;63;p11"/>
          <p:cNvSpPr txBox="1">
            <a:spLocks noGrp="1"/>
          </p:cNvSpPr>
          <p:nvPr>
            <p:ph type="title" hasCustomPrompt="1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wiss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jegoodman.github.io/monarch-migration/GifMap/GifMap2019.gi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jegoodman.github.io/monarch-migration/Aug2020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hyperlink" Target="https://sjegoodman.github.io/monarch-migration/Sep2020.htm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Monarch Migration Analysis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"/>
          </p:nvPr>
        </p:nvSpPr>
        <p:spPr>
          <a:xfrm>
            <a:off x="260125" y="3607575"/>
            <a:ext cx="8520600" cy="125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Samant</a:t>
            </a:r>
            <a:r>
              <a:rPr lang="en-US" dirty="0"/>
              <a:t>ha Goodman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Updated Oct 2026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Eastern monarchs butterflies (</a:t>
            </a:r>
            <a:r>
              <a:rPr lang="en" i="1" dirty="0"/>
              <a:t>Danaus plexippus</a:t>
            </a:r>
            <a:r>
              <a:rPr lang="en" dirty="0"/>
              <a:t>) leave their overwintering sites in the mountains of Mexico each spring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They spend the summer traveling north and breeding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After 2-3 generations, and starting in August, the monarch population travels south to return to the overwintering site</a:t>
            </a:r>
            <a:endParaRPr dirty="0"/>
          </a:p>
        </p:txBody>
      </p:sp>
      <p:sp>
        <p:nvSpPr>
          <p:cNvPr id="79" name="Google Shape;79;p14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Background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80" name="Google Shape;8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75948"/>
            <a:ext cx="2191901" cy="1643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" y="2220213"/>
            <a:ext cx="2191901" cy="17535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213" y="-32225"/>
            <a:ext cx="8037565" cy="520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>
            <a:spLocks noGrp="1"/>
          </p:cNvSpPr>
          <p:nvPr>
            <p:ph type="title"/>
          </p:nvPr>
        </p:nvSpPr>
        <p:spPr>
          <a:xfrm>
            <a:off x="4572000" y="601725"/>
            <a:ext cx="39948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 Source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2" name="Google Shape;92;p16"/>
          <p:cNvSpPr txBox="1">
            <a:spLocks noGrp="1"/>
          </p:cNvSpPr>
          <p:nvPr>
            <p:ph type="body" idx="1"/>
          </p:nvPr>
        </p:nvSpPr>
        <p:spPr>
          <a:xfrm>
            <a:off x="4169605" y="1441075"/>
            <a:ext cx="39948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Citizen scientists submit monarch observations to Journey North (https://journeynorth.org/)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Many types of observations are submitted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 focused on </a:t>
            </a:r>
            <a:r>
              <a:rPr lang="en" b="1" dirty="0"/>
              <a:t>Roosts </a:t>
            </a:r>
            <a:r>
              <a:rPr lang="en" dirty="0"/>
              <a:t>and </a:t>
            </a:r>
            <a:r>
              <a:rPr lang="en" b="1" dirty="0"/>
              <a:t>Peak Migration Events</a:t>
            </a:r>
            <a:endParaRPr b="1" dirty="0"/>
          </a:p>
        </p:txBody>
      </p:sp>
      <p:pic>
        <p:nvPicPr>
          <p:cNvPr id="93" name="Google Shape;9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453" y="732825"/>
            <a:ext cx="3107348" cy="2071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0450" y="2894273"/>
            <a:ext cx="3107355" cy="2071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B8A124CE-6E9C-9A69-A554-D0066E3C6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>
            <a:extLst>
              <a:ext uri="{FF2B5EF4-FFF2-40B4-BE49-F238E27FC236}">
                <a16:creationId xmlns:a16="http://schemas.microsoft.com/office/drawing/2014/main" id="{C1B92218-0724-C536-9CCE-67116BF0D7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Technologies Used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21" name="Google Shape;121;p20">
            <a:extLst>
              <a:ext uri="{FF2B5EF4-FFF2-40B4-BE49-F238E27FC236}">
                <a16:creationId xmlns:a16="http://schemas.microsoft.com/office/drawing/2014/main" id="{BCC796EC-1BFD-4AF1-D5A2-49736E9139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sz="1600" b="1" dirty="0"/>
              <a:t>Load and clean:</a:t>
            </a:r>
            <a:r>
              <a:rPr lang="en-US" sz="1600" dirty="0"/>
              <a:t> Python, pandas</a:t>
            </a:r>
          </a:p>
          <a:p>
            <a:pPr lvl="0"/>
            <a:r>
              <a:rPr lang="en-US" sz="1600" b="1" dirty="0"/>
              <a:t>Analyze:</a:t>
            </a:r>
            <a:r>
              <a:rPr lang="en-US" sz="1600" dirty="0"/>
              <a:t> pandas (monthly latitude quartiles)</a:t>
            </a:r>
          </a:p>
          <a:p>
            <a:pPr lvl="0"/>
            <a:r>
              <a:rPr lang="en-US" sz="1600" b="1" dirty="0"/>
              <a:t>Map:</a:t>
            </a:r>
            <a:r>
              <a:rPr lang="en-US" sz="1600" dirty="0"/>
              <a:t> folium (Leaflet maps in Python)</a:t>
            </a:r>
          </a:p>
          <a:p>
            <a:pPr lvl="0"/>
            <a:r>
              <a:rPr lang="en-US" sz="1600" b="1" dirty="0"/>
              <a:t>Animate:</a:t>
            </a:r>
            <a:r>
              <a:rPr lang="en-US" sz="1600" dirty="0"/>
              <a:t> Selenium (screenshotting each weekly map), Pillow, </a:t>
            </a:r>
            <a:r>
              <a:rPr lang="en-US" sz="1600" dirty="0" err="1"/>
              <a:t>imageio</a:t>
            </a:r>
            <a:endParaRPr lang="en-US" sz="1600" dirty="0"/>
          </a:p>
          <a:p>
            <a:pPr lvl="0"/>
            <a:r>
              <a:rPr lang="en-US" sz="1600" b="1" dirty="0"/>
              <a:t>Share:</a:t>
            </a:r>
            <a:r>
              <a:rPr lang="en-US" sz="1600" dirty="0"/>
              <a:t> Jupyter, GitHub Pages, Tableau Public</a:t>
            </a:r>
          </a:p>
          <a:p>
            <a:pPr lvl="0"/>
            <a:endParaRPr sz="1700" dirty="0"/>
          </a:p>
        </p:txBody>
      </p:sp>
      <p:pic>
        <p:nvPicPr>
          <p:cNvPr id="3" name="Google Shape;80;p14">
            <a:extLst>
              <a:ext uri="{FF2B5EF4-FFF2-40B4-BE49-F238E27FC236}">
                <a16:creationId xmlns:a16="http://schemas.microsoft.com/office/drawing/2014/main" id="{CEAC9A12-2ECE-4400-18CA-F513FA5665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75948"/>
            <a:ext cx="2191901" cy="1643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1;p14">
            <a:extLst>
              <a:ext uri="{FF2B5EF4-FFF2-40B4-BE49-F238E27FC236}">
                <a16:creationId xmlns:a16="http://schemas.microsoft.com/office/drawing/2014/main" id="{DC3F10FB-5274-14F1-0CB6-7B2D78322F3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" y="2220213"/>
            <a:ext cx="2191901" cy="17535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44802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My Analysis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1"/>
          </p:nvPr>
        </p:nvSpPr>
        <p:spPr>
          <a:xfrm>
            <a:off x="6064550" y="1312175"/>
            <a:ext cx="28749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dirty="0"/>
              <a:t>The map shows the median latitude for that month (solid orange line) and the quartiles Q1-Q3 inside the light orange areas</a:t>
            </a:r>
            <a:endParaRPr dirty="0"/>
          </a:p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dirty="0"/>
              <a:t>50% of the observations for each month fall within the shaded area</a:t>
            </a:r>
            <a:endParaRPr dirty="0"/>
          </a:p>
        </p:txBody>
      </p:sp>
      <p:pic>
        <p:nvPicPr>
          <p:cNvPr id="101" name="Google Shape;10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22275" y="719450"/>
            <a:ext cx="6268799" cy="370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Animated Gif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xfrm>
            <a:off x="6064550" y="1312175"/>
            <a:ext cx="28749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created an animated gif showing the monarch migration for one season (Fall 2019)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Available online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endParaRPr/>
          </a:p>
        </p:txBody>
      </p:sp>
      <p:pic>
        <p:nvPicPr>
          <p:cNvPr id="108" name="Google Shape;108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9275" y="787424"/>
            <a:ext cx="5877950" cy="356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Interactive Map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14" name="Google Shape;114;p19"/>
          <p:cNvSpPr txBox="1">
            <a:spLocks noGrp="1"/>
          </p:cNvSpPr>
          <p:nvPr>
            <p:ph type="body" idx="1"/>
          </p:nvPr>
        </p:nvSpPr>
        <p:spPr>
          <a:xfrm>
            <a:off x="6064550" y="1312175"/>
            <a:ext cx="28749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 created an interactive maps showing reported migration events for a two months of 2020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Available here: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August 2020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 dirty="0">
                <a:solidFill>
                  <a:schemeClr val="hlink"/>
                </a:solidFill>
                <a:hlinkClick r:id="rId4"/>
              </a:rPr>
              <a:t>September 2020</a:t>
            </a:r>
            <a:endParaRPr lang="en" u="sng" dirty="0">
              <a:solidFill>
                <a:schemeClr val="hlink"/>
              </a:solidFill>
            </a:endParaRPr>
          </a:p>
          <a:p>
            <a:pPr marL="425450" indent="-285750">
              <a:buSzPts val="1400"/>
            </a:pPr>
            <a:r>
              <a:rPr lang="en" dirty="0"/>
              <a:t>Update – switched to text boxes instead of images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974706-2E45-2E5D-87AC-836C1B952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550" y="500150"/>
            <a:ext cx="5604796" cy="4173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Limitations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21" name="Google Shape;121;p20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of the observations are submitted by volunteers, and thus prone to errors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was not a longitudinal study, so it was not possible to compare year to year - observations submitted over time have increased, but likely due to popularity of Journey North increasing, not monarch butterfly population increase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1510F2F4-03F1-C6D5-2747-DD8F5A3A4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>
            <a:extLst>
              <a:ext uri="{FF2B5EF4-FFF2-40B4-BE49-F238E27FC236}">
                <a16:creationId xmlns:a16="http://schemas.microsoft.com/office/drawing/2014/main" id="{C644E466-CE66-6FC1-38BB-328D82998B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Updating an old project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21" name="Google Shape;121;p20">
            <a:extLst>
              <a:ext uri="{FF2B5EF4-FFF2-40B4-BE49-F238E27FC236}">
                <a16:creationId xmlns:a16="http://schemas.microsoft.com/office/drawing/2014/main" id="{9C1E346C-C88B-2375-D4A2-781FB5C1B3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sz="1600" b="1" dirty="0"/>
              <a:t>In four years, some things broke: </a:t>
            </a:r>
            <a:r>
              <a:rPr lang="en-US" sz="1600" dirty="0"/>
              <a:t>observer photos are no longer hosted on the original site; the data source now requires a login; libraries were updated</a:t>
            </a:r>
          </a:p>
          <a:p>
            <a:pPr lvl="0"/>
            <a:r>
              <a:rPr lang="en-US" sz="1600" b="1" dirty="0"/>
              <a:t>Things that helped me:</a:t>
            </a:r>
            <a:r>
              <a:rPr lang="en-US" sz="1600" dirty="0"/>
              <a:t> cached data, well commented and chunked code made it easy to understand and update</a:t>
            </a:r>
          </a:p>
          <a:p>
            <a:pPr lvl="0"/>
            <a:r>
              <a:rPr lang="en-US" sz="1600" b="1" dirty="0"/>
              <a:t>Errors found:</a:t>
            </a:r>
            <a:r>
              <a:rPr lang="en-US" sz="1600" dirty="0"/>
              <a:t> a </a:t>
            </a:r>
            <a:r>
              <a:rPr lang="en-US" dirty="0" err="1"/>
              <a:t>dropna</a:t>
            </a:r>
            <a:r>
              <a:rPr lang="en-US" dirty="0"/>
              <a:t>()</a:t>
            </a:r>
            <a:r>
              <a:rPr lang="en-US" sz="1600" dirty="0"/>
              <a:t> that silently dropped about half the sightings from the gif and maps</a:t>
            </a:r>
          </a:p>
          <a:p>
            <a:pPr lvl="0"/>
            <a:r>
              <a:rPr lang="en-US" sz="1600" b="1" dirty="0"/>
              <a:t>How I used AI:</a:t>
            </a:r>
            <a:r>
              <a:rPr lang="en-US" sz="1600" dirty="0"/>
              <a:t> it quickly scanned my old code and suggested updates, and found an old bug I didn’t know about</a:t>
            </a:r>
          </a:p>
          <a:p>
            <a:pPr lvl="0"/>
            <a:endParaRPr sz="1700" dirty="0"/>
          </a:p>
        </p:txBody>
      </p:sp>
      <p:pic>
        <p:nvPicPr>
          <p:cNvPr id="3" name="Google Shape;80;p14">
            <a:extLst>
              <a:ext uri="{FF2B5EF4-FFF2-40B4-BE49-F238E27FC236}">
                <a16:creationId xmlns:a16="http://schemas.microsoft.com/office/drawing/2014/main" id="{A5885F56-5EE9-2355-EA05-CE33FB1A7DD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75948"/>
            <a:ext cx="2191901" cy="1643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1;p14">
            <a:extLst>
              <a:ext uri="{FF2B5EF4-FFF2-40B4-BE49-F238E27FC236}">
                <a16:creationId xmlns:a16="http://schemas.microsoft.com/office/drawing/2014/main" id="{2A25F044-818B-6903-447B-CF105A00544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" y="2220213"/>
            <a:ext cx="2191901" cy="17535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01491025"/>
      </p:ext>
    </p:extLst>
  </p:cSld>
  <p:clrMapOvr>
    <a:masterClrMapping/>
  </p:clrMapOvr>
</p:sld>
</file>

<file path=ppt/theme/theme1.xml><?xml version="1.0" encoding="utf-8"?>
<a:theme xmlns:a="http://schemas.openxmlformats.org/drawingml/2006/main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377</Words>
  <Application>Microsoft Office PowerPoint</Application>
  <PresentationFormat>On-screen Show (16:9)</PresentationFormat>
  <Paragraphs>37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Lato</vt:lpstr>
      <vt:lpstr>Raleway</vt:lpstr>
      <vt:lpstr>Arial</vt:lpstr>
      <vt:lpstr>Swiss</vt:lpstr>
      <vt:lpstr>Monarch Migration Analysis</vt:lpstr>
      <vt:lpstr>Background</vt:lpstr>
      <vt:lpstr>PowerPoint Presentation</vt:lpstr>
      <vt:lpstr>Data Source</vt:lpstr>
      <vt:lpstr>Technologies Used</vt:lpstr>
      <vt:lpstr>My Analysis</vt:lpstr>
      <vt:lpstr>Animated Gif</vt:lpstr>
      <vt:lpstr>Interactive Map</vt:lpstr>
      <vt:lpstr>Limitations</vt:lpstr>
      <vt:lpstr>Updating an old project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Goodman, Samantha</cp:lastModifiedBy>
  <cp:revision>2</cp:revision>
  <dcterms:modified xsi:type="dcterms:W3CDTF">2026-10-19T20:00:22Z</dcterms:modified>
</cp:coreProperties>
</file>